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813A443-3C0C-40C4-80FA-D15E85F6B92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9B3191-DFC8-439A-BC9B-02B35EB548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DFAFB4-2FEF-48AA-A4EC-8C32B667FA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D310C7-1B67-4711-8E98-BE880B035F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AD6CF7-8532-460A-B1B2-DD3E714861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EA879B-8065-47DE-A21B-BD80109305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313D90-F820-4BC1-98D0-297B06C3EB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2C1FCA-3866-4553-8AB8-B0EE4D9135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83155D-1FF7-44F8-8725-1AC666F863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6949440" y="365760"/>
            <a:ext cx="2559600" cy="255960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126d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498080" y="1097280"/>
            <a:ext cx="1645200" cy="16452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583680" y="1645920"/>
            <a:ext cx="1096560" cy="10965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48640" y="1097280"/>
            <a:ext cx="6400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Surface Tension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48640" y="2057400"/>
            <a:ext cx="6400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c2cb"/>
                </a:solidFill>
                <a:latin typeface="Calibri"/>
                <a:ea typeface="Calibri"/>
              </a:rPr>
              <a:t>&amp; Capillary Action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48640" y="288036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a0c4e2"/>
                </a:solidFill>
                <a:latin typeface="Calibri"/>
                <a:ea typeface="Calibri"/>
              </a:rPr>
              <a:t>Understanding the hidden forces that shape our world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126da6"/>
          </a:solidFill>
          <a:ln w="12700">
            <a:solidFill>
              <a:srgbClr val="126d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0" y="4956120"/>
            <a:ext cx="9143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Physics — Fluid Properties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30"/>
          <p:cNvSpPr/>
          <p:nvPr/>
        </p:nvSpPr>
        <p:spPr>
          <a:xfrm>
            <a:off x="502920" y="201240"/>
            <a:ext cx="7771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2342"/>
                </a:solidFill>
                <a:latin typeface="Calibri"/>
                <a:ea typeface="Calibri"/>
              </a:rPr>
              <a:t>What is Surface </a:t>
            </a:r>
            <a:r>
              <a:rPr b="1" lang="en-US" sz="3000" spc="-1" strike="noStrike">
                <a:solidFill>
                  <a:srgbClr val="0a2342"/>
                </a:solidFill>
                <a:latin typeface="Calibri"/>
                <a:ea typeface="Calibri"/>
              </a:rPr>
              <a:t>Tension?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411480" y="201240"/>
            <a:ext cx="63360" cy="547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411480" y="914400"/>
            <a:ext cx="420552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44"/>
          <p:cNvSpPr/>
          <p:nvPr/>
        </p:nvSpPr>
        <p:spPr>
          <a:xfrm>
            <a:off x="594360" y="573840"/>
            <a:ext cx="383976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26da6"/>
                </a:solidFill>
                <a:latin typeface="Calibri"/>
              </a:rPr>
              <a:t>The Basic Idea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Liquids are made of molecules that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attract each other. Inside the liquid, a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molecule is pulled equally in all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directions.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At the surface, however, there are no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molecules above — so the surface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molecules are pulled only sideways and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downward.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This net inward pull makes the surface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behave like a stretched elastic skin — that </a:t>
            </a:r>
            <a:r>
              <a:rPr b="1" lang="en-US" sz="1500" spc="-1" strike="noStrike">
                <a:solidFill>
                  <a:srgbClr val="1a1a2e"/>
                </a:solidFill>
                <a:latin typeface="Calibri"/>
              </a:rPr>
              <a:t>'skin' is surface tension.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4846320" y="914400"/>
            <a:ext cx="393120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66928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26"/>
          <p:cNvSpPr/>
          <p:nvPr/>
        </p:nvSpPr>
        <p:spPr>
          <a:xfrm>
            <a:off x="621792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39"/>
          <p:cNvSpPr/>
          <p:nvPr/>
        </p:nvSpPr>
        <p:spPr>
          <a:xfrm>
            <a:off x="676656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40"/>
          <p:cNvSpPr/>
          <p:nvPr/>
        </p:nvSpPr>
        <p:spPr>
          <a:xfrm>
            <a:off x="731520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41"/>
          <p:cNvSpPr/>
          <p:nvPr/>
        </p:nvSpPr>
        <p:spPr>
          <a:xfrm>
            <a:off x="786384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61"/>
          <p:cNvSpPr/>
          <p:nvPr/>
        </p:nvSpPr>
        <p:spPr>
          <a:xfrm>
            <a:off x="566928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62"/>
          <p:cNvSpPr/>
          <p:nvPr/>
        </p:nvSpPr>
        <p:spPr>
          <a:xfrm>
            <a:off x="621792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63"/>
          <p:cNvSpPr/>
          <p:nvPr/>
        </p:nvSpPr>
        <p:spPr>
          <a:xfrm>
            <a:off x="676656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64"/>
          <p:cNvSpPr/>
          <p:nvPr/>
        </p:nvSpPr>
        <p:spPr>
          <a:xfrm>
            <a:off x="731520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65"/>
          <p:cNvSpPr/>
          <p:nvPr/>
        </p:nvSpPr>
        <p:spPr>
          <a:xfrm>
            <a:off x="786384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66"/>
          <p:cNvSpPr/>
          <p:nvPr/>
        </p:nvSpPr>
        <p:spPr>
          <a:xfrm>
            <a:off x="566928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67"/>
          <p:cNvSpPr/>
          <p:nvPr/>
        </p:nvSpPr>
        <p:spPr>
          <a:xfrm>
            <a:off x="621792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68"/>
          <p:cNvSpPr/>
          <p:nvPr/>
        </p:nvSpPr>
        <p:spPr>
          <a:xfrm>
            <a:off x="676656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69"/>
          <p:cNvSpPr/>
          <p:nvPr/>
        </p:nvSpPr>
        <p:spPr>
          <a:xfrm>
            <a:off x="731520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70"/>
          <p:cNvSpPr/>
          <p:nvPr/>
        </p:nvSpPr>
        <p:spPr>
          <a:xfrm>
            <a:off x="786384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71"/>
          <p:cNvSpPr/>
          <p:nvPr/>
        </p:nvSpPr>
        <p:spPr>
          <a:xfrm>
            <a:off x="566928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72"/>
          <p:cNvSpPr/>
          <p:nvPr/>
        </p:nvSpPr>
        <p:spPr>
          <a:xfrm>
            <a:off x="621792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73"/>
          <p:cNvSpPr/>
          <p:nvPr/>
        </p:nvSpPr>
        <p:spPr>
          <a:xfrm>
            <a:off x="676656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74"/>
          <p:cNvSpPr/>
          <p:nvPr/>
        </p:nvSpPr>
        <p:spPr>
          <a:xfrm>
            <a:off x="7315200" y="1001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75"/>
          <p:cNvSpPr/>
          <p:nvPr/>
        </p:nvSpPr>
        <p:spPr>
          <a:xfrm>
            <a:off x="786384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76"/>
          <p:cNvSpPr/>
          <p:nvPr/>
        </p:nvSpPr>
        <p:spPr>
          <a:xfrm flipV="1">
            <a:off x="6894360" y="1552320"/>
            <a:ext cx="360" cy="457200"/>
          </a:xfrm>
          <a:prstGeom prst="line">
            <a:avLst/>
          </a:prstGeom>
          <a:ln w="254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77"/>
          <p:cNvSpPr/>
          <p:nvPr/>
        </p:nvSpPr>
        <p:spPr>
          <a:xfrm flipH="1">
            <a:off x="6309360" y="113868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78"/>
          <p:cNvSpPr/>
          <p:nvPr/>
        </p:nvSpPr>
        <p:spPr>
          <a:xfrm>
            <a:off x="7040880" y="113868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79"/>
          <p:cNvSpPr/>
          <p:nvPr/>
        </p:nvSpPr>
        <p:spPr>
          <a:xfrm>
            <a:off x="6894360" y="1131840"/>
            <a:ext cx="360" cy="3657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45"/>
          <p:cNvSpPr/>
          <p:nvPr/>
        </p:nvSpPr>
        <p:spPr>
          <a:xfrm>
            <a:off x="4937760" y="3969000"/>
            <a:ext cx="3748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a6fa5"/>
                </a:solidFill>
                <a:latin typeface="Calibri"/>
              </a:rPr>
              <a:t>← </a:t>
            </a:r>
            <a:r>
              <a:rPr b="0" i="1" lang="en-US" sz="1000" spc="-1" strike="noStrike">
                <a:solidFill>
                  <a:srgbClr val="4a6fa5"/>
                </a:solidFill>
                <a:latin typeface="Calibri"/>
              </a:rPr>
              <a:t>Surface molecule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a6fa5"/>
                </a:solidFill>
                <a:latin typeface="Calibri"/>
              </a:rPr>
              <a:t>(pulled inward &amp; sideways)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6"/>
          <p:cNvSpPr/>
          <p:nvPr/>
        </p:nvSpPr>
        <p:spPr>
          <a:xfrm>
            <a:off x="411480" y="4617720"/>
            <a:ext cx="8320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6fa5"/>
                </a:solidFill>
                <a:latin typeface="Calibri"/>
              </a:rPr>
              <a:t>Molecule diagram — forces acting on surface vs. interior molecules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80"/>
          <p:cNvSpPr/>
          <p:nvPr/>
        </p:nvSpPr>
        <p:spPr>
          <a:xfrm>
            <a:off x="6968880" y="200304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81"/>
          <p:cNvSpPr/>
          <p:nvPr/>
        </p:nvSpPr>
        <p:spPr>
          <a:xfrm>
            <a:off x="6356880" y="200304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82"/>
          <p:cNvSpPr/>
          <p:nvPr/>
        </p:nvSpPr>
        <p:spPr>
          <a:xfrm>
            <a:off x="6894720" y="2139840"/>
            <a:ext cx="360" cy="3657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5028480" y="3588480"/>
            <a:ext cx="3751920" cy="36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47"/>
          <p:cNvSpPr/>
          <p:nvPr/>
        </p:nvSpPr>
        <p:spPr>
          <a:xfrm>
            <a:off x="502920" y="201240"/>
            <a:ext cx="7771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a2342"/>
                </a:solidFill>
                <a:latin typeface="Calibri"/>
                <a:ea typeface="Calibri"/>
              </a:rPr>
              <a:t>What is Surface Tension?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83"/>
          <p:cNvSpPr/>
          <p:nvPr/>
        </p:nvSpPr>
        <p:spPr>
          <a:xfrm>
            <a:off x="411480" y="201240"/>
            <a:ext cx="63360" cy="547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84"/>
          <p:cNvSpPr/>
          <p:nvPr/>
        </p:nvSpPr>
        <p:spPr>
          <a:xfrm>
            <a:off x="483480" y="914400"/>
            <a:ext cx="420552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48"/>
          <p:cNvSpPr/>
          <p:nvPr/>
        </p:nvSpPr>
        <p:spPr>
          <a:xfrm>
            <a:off x="594360" y="1005840"/>
            <a:ext cx="4206240" cy="33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126da6"/>
                </a:solidFill>
                <a:latin typeface="Calibri"/>
              </a:rPr>
              <a:t>Formal Definition: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 u="sng">
                <a:solidFill>
                  <a:srgbClr val="77bc65"/>
                </a:solidFill>
                <a:uFillTx/>
                <a:latin typeface="Calibri"/>
              </a:rPr>
              <a:t> </a:t>
            </a:r>
            <a:r>
              <a:rPr b="1" i="1" lang="en-US" sz="1800" spc="-1" strike="noStrike" u="sng">
                <a:solidFill>
                  <a:srgbClr val="77bc65"/>
                </a:solidFill>
                <a:uFillTx/>
                <a:latin typeface="Calibri"/>
              </a:rPr>
              <a:t>Surface tension is the tendency  stretched film due to cohesive forces between surface molecules.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 u="sng">
                <a:solidFill>
                  <a:srgbClr val="77bc65"/>
                </a:solidFill>
                <a:uFillTx/>
                <a:latin typeface="Calibri"/>
              </a:rPr>
              <a:t>It is the property of liquid surface to remain in minimum surface area for given volume.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86"/>
          <p:cNvSpPr/>
          <p:nvPr/>
        </p:nvSpPr>
        <p:spPr>
          <a:xfrm>
            <a:off x="566928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87"/>
          <p:cNvSpPr/>
          <p:nvPr/>
        </p:nvSpPr>
        <p:spPr>
          <a:xfrm>
            <a:off x="621792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88"/>
          <p:cNvSpPr/>
          <p:nvPr/>
        </p:nvSpPr>
        <p:spPr>
          <a:xfrm>
            <a:off x="676656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89"/>
          <p:cNvSpPr/>
          <p:nvPr/>
        </p:nvSpPr>
        <p:spPr>
          <a:xfrm>
            <a:off x="731520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90"/>
          <p:cNvSpPr/>
          <p:nvPr/>
        </p:nvSpPr>
        <p:spPr>
          <a:xfrm>
            <a:off x="7863840" y="137160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91"/>
          <p:cNvSpPr/>
          <p:nvPr/>
        </p:nvSpPr>
        <p:spPr>
          <a:xfrm>
            <a:off x="566928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92"/>
          <p:cNvSpPr/>
          <p:nvPr/>
        </p:nvSpPr>
        <p:spPr>
          <a:xfrm>
            <a:off x="621792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93"/>
          <p:cNvSpPr/>
          <p:nvPr/>
        </p:nvSpPr>
        <p:spPr>
          <a:xfrm>
            <a:off x="676656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94"/>
          <p:cNvSpPr/>
          <p:nvPr/>
        </p:nvSpPr>
        <p:spPr>
          <a:xfrm>
            <a:off x="731520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95"/>
          <p:cNvSpPr/>
          <p:nvPr/>
        </p:nvSpPr>
        <p:spPr>
          <a:xfrm>
            <a:off x="7863840" y="192024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96"/>
          <p:cNvSpPr/>
          <p:nvPr/>
        </p:nvSpPr>
        <p:spPr>
          <a:xfrm>
            <a:off x="566928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97"/>
          <p:cNvSpPr/>
          <p:nvPr/>
        </p:nvSpPr>
        <p:spPr>
          <a:xfrm>
            <a:off x="621792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98"/>
          <p:cNvSpPr/>
          <p:nvPr/>
        </p:nvSpPr>
        <p:spPr>
          <a:xfrm>
            <a:off x="676656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99"/>
          <p:cNvSpPr/>
          <p:nvPr/>
        </p:nvSpPr>
        <p:spPr>
          <a:xfrm>
            <a:off x="731520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00"/>
          <p:cNvSpPr/>
          <p:nvPr/>
        </p:nvSpPr>
        <p:spPr>
          <a:xfrm>
            <a:off x="7863840" y="2468880"/>
            <a:ext cx="255240" cy="25524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01"/>
          <p:cNvSpPr/>
          <p:nvPr/>
        </p:nvSpPr>
        <p:spPr>
          <a:xfrm>
            <a:off x="566928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02"/>
          <p:cNvSpPr/>
          <p:nvPr/>
        </p:nvSpPr>
        <p:spPr>
          <a:xfrm>
            <a:off x="621792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03"/>
          <p:cNvSpPr/>
          <p:nvPr/>
        </p:nvSpPr>
        <p:spPr>
          <a:xfrm>
            <a:off x="6766560" y="1001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04"/>
          <p:cNvSpPr/>
          <p:nvPr/>
        </p:nvSpPr>
        <p:spPr>
          <a:xfrm>
            <a:off x="7315200" y="1001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05"/>
          <p:cNvSpPr/>
          <p:nvPr/>
        </p:nvSpPr>
        <p:spPr>
          <a:xfrm>
            <a:off x="7863840" y="1037520"/>
            <a:ext cx="273600" cy="2736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a23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06"/>
          <p:cNvSpPr/>
          <p:nvPr/>
        </p:nvSpPr>
        <p:spPr>
          <a:xfrm flipV="1">
            <a:off x="6894360" y="1552320"/>
            <a:ext cx="360" cy="457200"/>
          </a:xfrm>
          <a:prstGeom prst="line">
            <a:avLst/>
          </a:prstGeom>
          <a:ln w="254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07"/>
          <p:cNvSpPr/>
          <p:nvPr/>
        </p:nvSpPr>
        <p:spPr>
          <a:xfrm flipH="1">
            <a:off x="6309360" y="113868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08"/>
          <p:cNvSpPr/>
          <p:nvPr/>
        </p:nvSpPr>
        <p:spPr>
          <a:xfrm>
            <a:off x="7040880" y="113868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09"/>
          <p:cNvSpPr/>
          <p:nvPr/>
        </p:nvSpPr>
        <p:spPr>
          <a:xfrm>
            <a:off x="6894360" y="1131840"/>
            <a:ext cx="360" cy="3657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49"/>
          <p:cNvSpPr/>
          <p:nvPr/>
        </p:nvSpPr>
        <p:spPr>
          <a:xfrm>
            <a:off x="4937760" y="3969000"/>
            <a:ext cx="3748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a6fa5"/>
                </a:solidFill>
                <a:latin typeface="Calibri"/>
              </a:rPr>
              <a:t>← </a:t>
            </a:r>
            <a:r>
              <a:rPr b="0" i="1" lang="en-US" sz="1000" spc="-1" strike="noStrike">
                <a:solidFill>
                  <a:srgbClr val="4a6fa5"/>
                </a:solidFill>
                <a:latin typeface="Calibri"/>
              </a:rPr>
              <a:t>Surface molecule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4a6fa5"/>
                </a:solidFill>
                <a:latin typeface="Calibri"/>
              </a:rPr>
              <a:t>(pulled inward &amp; sideways)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50"/>
          <p:cNvSpPr/>
          <p:nvPr/>
        </p:nvSpPr>
        <p:spPr>
          <a:xfrm>
            <a:off x="411480" y="4617720"/>
            <a:ext cx="8320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4a6fa5"/>
                </a:solidFill>
                <a:latin typeface="Calibri"/>
              </a:rPr>
              <a:t>Molecule diagram — forces acting on surface vs. interior molecules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10"/>
          <p:cNvSpPr/>
          <p:nvPr/>
        </p:nvSpPr>
        <p:spPr>
          <a:xfrm>
            <a:off x="6968880" y="200304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11"/>
          <p:cNvSpPr/>
          <p:nvPr/>
        </p:nvSpPr>
        <p:spPr>
          <a:xfrm>
            <a:off x="6356880" y="2003040"/>
            <a:ext cx="457200" cy="3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12"/>
          <p:cNvSpPr/>
          <p:nvPr/>
        </p:nvSpPr>
        <p:spPr>
          <a:xfrm>
            <a:off x="6894720" y="2139840"/>
            <a:ext cx="360" cy="365760"/>
          </a:xfrm>
          <a:prstGeom prst="line">
            <a:avLst/>
          </a:prstGeom>
          <a:ln w="254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5028480" y="3588480"/>
            <a:ext cx="3751920" cy="36144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5289120" y="2314440"/>
            <a:ext cx="1142640" cy="53316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3"/>
          <a:stretch/>
        </p:blipFill>
        <p:spPr>
          <a:xfrm>
            <a:off x="4921560" y="914400"/>
            <a:ext cx="3533400" cy="365760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4"/>
          <a:stretch/>
        </p:blipFill>
        <p:spPr>
          <a:xfrm>
            <a:off x="2833560" y="4617720"/>
            <a:ext cx="3533400" cy="437040"/>
          </a:xfrm>
          <a:prstGeom prst="rect">
            <a:avLst/>
          </a:prstGeom>
          <a:ln w="0">
            <a:noFill/>
          </a:ln>
        </p:spPr>
      </p:pic>
      <p:sp>
        <p:nvSpPr>
          <p:cNvPr id="89" name="Shape 43"/>
          <p:cNvSpPr/>
          <p:nvPr/>
        </p:nvSpPr>
        <p:spPr>
          <a:xfrm>
            <a:off x="4551480" y="914400"/>
            <a:ext cx="420552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 u="sng">
                <a:solidFill>
                  <a:srgbClr val="77bc65"/>
                </a:solidFill>
                <a:uFillTx/>
                <a:latin typeface="Calibri"/>
              </a:rPr>
              <a:t>of liquid surface to behave like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44"/>
          <p:cNvSpPr/>
          <p:nvPr/>
        </p:nvSpPr>
        <p:spPr>
          <a:xfrm>
            <a:off x="483480" y="914400"/>
            <a:ext cx="8273520" cy="356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94360" y="1005840"/>
            <a:ext cx="8091720" cy="341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77bc65"/>
                </a:solidFill>
                <a:latin typeface="Times New Roman"/>
              </a:rPr>
              <a:t>Definition:</a:t>
            </a:r>
            <a:endParaRPr b="0" lang="en-US" sz="2200" spc="-1" strike="noStrike">
              <a:solidFill>
                <a:srgbClr val="77bc65"/>
              </a:solidFill>
              <a:latin typeface="Times New Roman"/>
            </a:endParaRPr>
          </a:p>
          <a:p>
            <a:endParaRPr b="0" lang="en-US" sz="2200" spc="-1" strike="noStrike">
              <a:solidFill>
                <a:srgbClr val="77bc65"/>
              </a:solidFill>
              <a:latin typeface="Times New Roman"/>
            </a:endParaRPr>
          </a:p>
          <a:p>
            <a:r>
              <a:rPr b="0" lang="en-US" sz="2200" spc="-1" strike="noStrike">
                <a:solidFill>
                  <a:srgbClr val="77bc65"/>
                </a:solidFill>
                <a:latin typeface="Times New Roman"/>
              </a:rPr>
              <a:t>Surface tension is the tendency of liquid surface to behave like a stretched elastic film due to cohesive forces between surface liquid molecules.</a:t>
            </a:r>
            <a:endParaRPr b="0" lang="en-US" sz="2200" spc="-1" strike="noStrike">
              <a:solidFill>
                <a:srgbClr val="77bc65"/>
              </a:solidFill>
              <a:latin typeface="Times New Roman"/>
            </a:endParaRPr>
          </a:p>
          <a:p>
            <a:r>
              <a:rPr b="0" lang="en-US" sz="2200" spc="-1" strike="noStrike">
                <a:solidFill>
                  <a:srgbClr val="77bc65"/>
                </a:solidFill>
                <a:latin typeface="Times New Roman"/>
              </a:rPr>
              <a:t>     </a:t>
            </a:r>
            <a:endParaRPr b="0" lang="en-US" sz="2200" spc="-1" strike="noStrike">
              <a:solidFill>
                <a:srgbClr val="77bc65"/>
              </a:solidFill>
              <a:latin typeface="Times New Roman"/>
            </a:endParaRPr>
          </a:p>
          <a:p>
            <a:r>
              <a:rPr b="0" lang="en-US" sz="2200" spc="-1" strike="noStrike">
                <a:solidFill>
                  <a:srgbClr val="77bc65"/>
                </a:solidFill>
                <a:latin typeface="Times New Roman"/>
              </a:rPr>
              <a:t>Or, It is simply the property of liquid surface to have minimum surface area for given volume.</a:t>
            </a:r>
            <a:endParaRPr b="0" lang="en-US" sz="2200" spc="-1" strike="noStrike">
              <a:solidFill>
                <a:srgbClr val="77bc65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502920" y="2012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Calibri"/>
                <a:ea typeface="Calibri"/>
              </a:rPr>
              <a:t>Factors Affecting Surface Tension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"/>
          <p:cNvSpPr/>
          <p:nvPr/>
        </p:nvSpPr>
        <p:spPr>
          <a:xfrm>
            <a:off x="411480" y="201240"/>
            <a:ext cx="63360" cy="547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411480" y="914400"/>
            <a:ext cx="4251240" cy="173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411480" y="914400"/>
            <a:ext cx="4251240" cy="109080"/>
          </a:xfrm>
          <a:prstGeom prst="rect">
            <a:avLst/>
          </a:prstGeom>
          <a:solidFill>
            <a:srgbClr val="fe6d73"/>
          </a:solidFill>
          <a:ln w="12700">
            <a:solidFill>
              <a:srgbClr val="fe6d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576000" y="1042560"/>
            <a:ext cx="3839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🌡  </a:t>
            </a: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Temperature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576000" y="1353240"/>
            <a:ext cx="3839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As temperature rises, molecules move faster and intermolecular forces weaken. Surface tension decreases with increasing temperature.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576000" y="2057400"/>
            <a:ext cx="3931200" cy="456480"/>
          </a:xfrm>
          <a:prstGeom prst="rect">
            <a:avLst/>
          </a:prstGeom>
          <a:solidFill>
            <a:srgbClr val="fe6d73"/>
          </a:solidFill>
          <a:ln w="12700">
            <a:solidFill>
              <a:srgbClr val="fe6d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612720" y="208476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e.g. Hot water spreads more easily than cold.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8"/>
          <p:cNvSpPr/>
          <p:nvPr/>
        </p:nvSpPr>
        <p:spPr>
          <a:xfrm>
            <a:off x="4800600" y="914400"/>
            <a:ext cx="4251240" cy="173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4800600" y="914400"/>
            <a:ext cx="4251240" cy="109080"/>
          </a:xfrm>
          <a:prstGeom prst="rect">
            <a:avLst/>
          </a:prstGeom>
          <a:solidFill>
            <a:srgbClr val="ffbe0b"/>
          </a:solidFill>
          <a:ln w="127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4965120" y="1042560"/>
            <a:ext cx="3839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🧪  </a:t>
            </a: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Solutes / Impurities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4965120" y="1353240"/>
            <a:ext cx="3839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Adding solutes changes cohesion. Surfactants (soaps, detergents) drastically reduce surface tension by disrupting molecular bonds.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4965120" y="2057400"/>
            <a:ext cx="3931200" cy="456480"/>
          </a:xfrm>
          <a:prstGeom prst="rect">
            <a:avLst/>
          </a:prstGeom>
          <a:solidFill>
            <a:srgbClr val="ffbe0b"/>
          </a:solidFill>
          <a:ln w="127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001840" y="208476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e.g. Soap breaks water's surface film.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411480" y="2880360"/>
            <a:ext cx="4251240" cy="173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5"/>
          <p:cNvSpPr/>
          <p:nvPr/>
        </p:nvSpPr>
        <p:spPr>
          <a:xfrm>
            <a:off x="411480" y="2880360"/>
            <a:ext cx="4251240" cy="1090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576000" y="3008520"/>
            <a:ext cx="3839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⚡  </a:t>
            </a: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Nature of Liquid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576000" y="3319200"/>
            <a:ext cx="3839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Liquids with stronger intermolecular forces (like water with hydrogen bonding) have higher surface tension than weaker liquids.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576000" y="4023360"/>
            <a:ext cx="3931200" cy="4564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612720" y="40507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e.g. Water &gt; ethanol &gt; petrol in surface tension.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0"/>
          <p:cNvSpPr/>
          <p:nvPr/>
        </p:nvSpPr>
        <p:spPr>
          <a:xfrm>
            <a:off x="4800600" y="2880360"/>
            <a:ext cx="4251240" cy="173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21"/>
          <p:cNvSpPr/>
          <p:nvPr/>
        </p:nvSpPr>
        <p:spPr>
          <a:xfrm>
            <a:off x="4800600" y="2880360"/>
            <a:ext cx="4251240" cy="10908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2"/>
          <p:cNvSpPr/>
          <p:nvPr/>
        </p:nvSpPr>
        <p:spPr>
          <a:xfrm>
            <a:off x="4965120" y="3008520"/>
            <a:ext cx="3839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🌀  </a:t>
            </a:r>
            <a:r>
              <a:rPr b="1" lang="en-US" sz="1400" spc="-1" strike="noStrike">
                <a:solidFill>
                  <a:srgbClr val="0a2342"/>
                </a:solidFill>
                <a:latin typeface="Calibri"/>
              </a:rPr>
              <a:t>Pressure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3"/>
          <p:cNvSpPr/>
          <p:nvPr/>
        </p:nvSpPr>
        <p:spPr>
          <a:xfrm>
            <a:off x="4965120" y="3319200"/>
            <a:ext cx="3839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</a:rPr>
              <a:t>Increasing external pressure generally increases surface tension slightly, as molecules are packed closer together.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4"/>
          <p:cNvSpPr/>
          <p:nvPr/>
        </p:nvSpPr>
        <p:spPr>
          <a:xfrm>
            <a:off x="4965120" y="4023360"/>
            <a:ext cx="3931200" cy="45648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5"/>
          <p:cNvSpPr/>
          <p:nvPr/>
        </p:nvSpPr>
        <p:spPr>
          <a:xfrm>
            <a:off x="5001840" y="40507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a1a2e"/>
                </a:solidFill>
                <a:latin typeface="Calibri"/>
              </a:rPr>
              <a:t>e.g. High-pressure environments compress the liquid surface.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502920" y="2012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Calibri"/>
                <a:ea typeface="Calibri"/>
              </a:rPr>
              <a:t>Real-World Examples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411480" y="201240"/>
            <a:ext cx="63360" cy="547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411480" y="734400"/>
            <a:ext cx="8275320" cy="13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502920" y="861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💧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1051560" y="82584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80373"/>
                </a:solidFill>
                <a:latin typeface="Calibri"/>
              </a:rPr>
              <a:t>Water Droplets Are Spherical</a:t>
            </a:r>
            <a:endParaRPr b="0" lang="en-US" sz="1100" spc="-1" strike="noStrike">
              <a:solidFill>
                <a:srgbClr val="780373"/>
              </a:solidFill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934920" y="1284120"/>
            <a:ext cx="2560320" cy="360"/>
          </a:xfrm>
          <a:prstGeom prst="line">
            <a:avLst/>
          </a:prstGeom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502920" y="1276200"/>
            <a:ext cx="7955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77bc65"/>
                </a:solidFill>
                <a:latin typeface="Calibri"/>
              </a:rPr>
              <a:t>Why: Surface tension minimises surface area for a given volume. A sphere has the minimum surface area, so water naturally pulls itself into that shape</a:t>
            </a: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411840" y="2286000"/>
            <a:ext cx="8274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467280" y="23378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🦟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943920" y="233784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80373"/>
                </a:solidFill>
                <a:latin typeface="Calibri"/>
              </a:rPr>
              <a:t>Insects Walk on Water</a:t>
            </a:r>
            <a:endParaRPr b="0" lang="en-US" sz="1100" spc="-1" strike="noStrike">
              <a:solidFill>
                <a:srgbClr val="780373"/>
              </a:solidFill>
              <a:latin typeface="Arial"/>
            </a:endParaRPr>
          </a:p>
        </p:txBody>
      </p:sp>
      <p:sp>
        <p:nvSpPr>
          <p:cNvPr id="128" name="Shape 10"/>
          <p:cNvSpPr/>
          <p:nvPr/>
        </p:nvSpPr>
        <p:spPr>
          <a:xfrm>
            <a:off x="863280" y="2760120"/>
            <a:ext cx="2560320" cy="360"/>
          </a:xfrm>
          <a:prstGeom prst="line">
            <a:avLst/>
          </a:prstGeom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647280" y="2680200"/>
            <a:ext cx="78109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77bc65"/>
                </a:solidFill>
                <a:latin typeface="Calibri"/>
              </a:rPr>
              <a:t>Why: Pond skaters are light enough that their legs don't break the surface 'skin'. The elastic surface supports their weight without puncturing.</a:t>
            </a:r>
            <a:endParaRPr b="0" lang="en-US" sz="1500" spc="-1" strike="noStrike">
              <a:solidFill>
                <a:srgbClr val="77bc65"/>
              </a:solidFill>
              <a:latin typeface="Arial"/>
            </a:endParaRPr>
          </a:p>
        </p:txBody>
      </p:sp>
      <p:sp>
        <p:nvSpPr>
          <p:cNvPr id="130" name="Shape 27"/>
          <p:cNvSpPr/>
          <p:nvPr/>
        </p:nvSpPr>
        <p:spPr>
          <a:xfrm>
            <a:off x="457200" y="3590640"/>
            <a:ext cx="8229600" cy="120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575640" y="3754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🧹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872280" y="3754080"/>
            <a:ext cx="20109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80373"/>
                </a:solidFill>
                <a:latin typeface="Calibri"/>
              </a:rPr>
              <a:t>Soap Cleans Better</a:t>
            </a:r>
            <a:endParaRPr b="0" lang="en-US" sz="1100" spc="-1" strike="noStrike">
              <a:solidFill>
                <a:srgbClr val="780373"/>
              </a:solidFill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1007640" y="4212360"/>
            <a:ext cx="2560320" cy="360"/>
          </a:xfrm>
          <a:prstGeom prst="line">
            <a:avLst/>
          </a:prstGeom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31"/>
          <p:cNvSpPr/>
          <p:nvPr/>
        </p:nvSpPr>
        <p:spPr>
          <a:xfrm>
            <a:off x="770400" y="4096440"/>
            <a:ext cx="75438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77bc65"/>
                </a:solidFill>
                <a:latin typeface="Calibri"/>
              </a:rPr>
              <a:t>Why: Soap lowers surface tension, letting water spread into tiny crevices and lift away grease that water alone cannot reach.</a:t>
            </a:r>
            <a:endParaRPr b="0" lang="en-US" sz="1500" spc="-1" strike="noStrike">
              <a:solidFill>
                <a:srgbClr val="77bc65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02920" y="2012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Calibri"/>
                <a:ea typeface="Calibri"/>
              </a:rPr>
              <a:t>Capillary Action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411480" y="201240"/>
            <a:ext cx="63360" cy="547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411480" y="868680"/>
            <a:ext cx="8320320" cy="1005120"/>
          </a:xfrm>
          <a:prstGeom prst="rect">
            <a:avLst/>
          </a:prstGeom>
          <a:solidFill>
            <a:srgbClr val="112244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411480" y="868680"/>
            <a:ext cx="8320320" cy="540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594360" y="969120"/>
            <a:ext cx="79545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c8e6ff"/>
                </a:solidFill>
                <a:latin typeface="Calibri"/>
              </a:rPr>
              <a:t>Capillary action (or capillarity) is the ability of a liquid to flow in narrow spaces without — and even against — the assistance of external forces like gravity.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502920" y="19933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2cb"/>
                </a:solidFill>
                <a:latin typeface="Calibri"/>
              </a:rPr>
              <a:t>Two competing forces drive capillarity: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411480" y="2359080"/>
            <a:ext cx="4022640" cy="1828080"/>
          </a:xfrm>
          <a:prstGeom prst="rect">
            <a:avLst/>
          </a:prstGeom>
          <a:solidFill>
            <a:srgbClr val="0e2a45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594360" y="24231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2cb"/>
                </a:solidFill>
                <a:latin typeface="Calibri"/>
              </a:rPr>
              <a:t>Adhesion  🔗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594360" y="2816280"/>
            <a:ext cx="3656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8d4ff"/>
                </a:solidFill>
                <a:latin typeface="Calibri"/>
              </a:rPr>
              <a:t>Attraction between the liquid molecules and the tube wall. This pulls liquid up along the walls.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4434840" y="2926080"/>
            <a:ext cx="41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vs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4892040" y="2359080"/>
            <a:ext cx="3839760" cy="1828080"/>
          </a:xfrm>
          <a:prstGeom prst="rect">
            <a:avLst/>
          </a:prstGeom>
          <a:solidFill>
            <a:srgbClr val="0e2a45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5074920" y="2423160"/>
            <a:ext cx="347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be0b"/>
                </a:solidFill>
                <a:latin typeface="Calibri"/>
              </a:rPr>
              <a:t>Cohesion  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5074920" y="2816280"/>
            <a:ext cx="3474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e07a"/>
                </a:solidFill>
                <a:latin typeface="Calibri"/>
              </a:rPr>
              <a:t>Attraction between liquid molecules themselves (e.g. hydrogen bonds in water). This resists upward flow.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411480" y="4316040"/>
            <a:ext cx="8320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7fb3d3"/>
                </a:solidFill>
                <a:latin typeface="Calibri"/>
              </a:rPr>
              <a:t>When adhesion &gt; cohesion → liquid rises (e.g. water in glass).   |   When cohesion &gt; adhesion → liquid is depressed (e.g. mercury in glass).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502920" y="20124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0a2342"/>
                </a:solidFill>
                <a:latin typeface="Calibri"/>
                <a:ea typeface="Calibri"/>
              </a:rPr>
              <a:t>Applications of Capillary Action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411480" y="201240"/>
            <a:ext cx="63360" cy="5479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411480" y="91440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2148840" y="1005840"/>
            <a:ext cx="867960" cy="25524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2148840" y="1005840"/>
            <a:ext cx="867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2dc653"/>
                </a:solidFill>
                <a:latin typeface="Calibri"/>
              </a:rPr>
              <a:t>Biology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502920" y="987480"/>
            <a:ext cx="456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🌱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1005840" y="1005840"/>
            <a:ext cx="1096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2342"/>
                </a:solidFill>
                <a:latin typeface="Calibri"/>
              </a:rPr>
              <a:t>Water Transport in Plants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520920" y="1508760"/>
            <a:ext cx="2514600" cy="360"/>
          </a:xfrm>
          <a:prstGeom prst="line">
            <a:avLst/>
          </a:prstGeom>
          <a:ln w="9525">
            <a:solidFill>
              <a:srgbClr val="d0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521280" y="1572840"/>
            <a:ext cx="2513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Capillary action in xylem vessels carries water from roots all the way to leaves — hundreds of feet upward in tall trees.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3291840" y="91440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0"/>
          <p:cNvSpPr/>
          <p:nvPr/>
        </p:nvSpPr>
        <p:spPr>
          <a:xfrm>
            <a:off x="5029200" y="1005840"/>
            <a:ext cx="867960" cy="255240"/>
          </a:xfrm>
          <a:prstGeom prst="rect">
            <a:avLst/>
          </a:prstGeom>
          <a:solidFill>
            <a:srgbClr val="126da6"/>
          </a:solidFill>
          <a:ln w="12700">
            <a:solidFill>
              <a:srgbClr val="126d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5029200" y="1005840"/>
            <a:ext cx="867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26da6"/>
                </a:solidFill>
                <a:latin typeface="Calibri"/>
              </a:rPr>
              <a:t>Engineering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3383280" y="987480"/>
            <a:ext cx="456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🖊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3886200" y="1005840"/>
            <a:ext cx="1096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2342"/>
                </a:solidFill>
                <a:latin typeface="Calibri"/>
              </a:rPr>
              <a:t>Ink in Pen Nibs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4"/>
          <p:cNvSpPr/>
          <p:nvPr/>
        </p:nvSpPr>
        <p:spPr>
          <a:xfrm>
            <a:off x="3401280" y="1508760"/>
            <a:ext cx="2514600" cy="360"/>
          </a:xfrm>
          <a:prstGeom prst="line">
            <a:avLst/>
          </a:prstGeom>
          <a:ln w="9525">
            <a:solidFill>
              <a:srgbClr val="d0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3401640" y="1572840"/>
            <a:ext cx="2513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Fountain pens and ballpoints rely on capillary channels to draw ink from the reservoir and deliver it to the tip at a controlled rate.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6"/>
          <p:cNvSpPr/>
          <p:nvPr/>
        </p:nvSpPr>
        <p:spPr>
          <a:xfrm>
            <a:off x="6172200" y="91440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7909560" y="1005840"/>
            <a:ext cx="867960" cy="255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7909560" y="1005840"/>
            <a:ext cx="867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e63946"/>
                </a:solidFill>
                <a:latin typeface="Calibri"/>
              </a:rPr>
              <a:t>Medicine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6263640" y="987480"/>
            <a:ext cx="456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🩸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6766560" y="1005840"/>
            <a:ext cx="1096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2342"/>
                </a:solidFill>
                <a:latin typeface="Calibri"/>
              </a:rPr>
              <a:t>Blood in Capillaries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1"/>
          <p:cNvSpPr/>
          <p:nvPr/>
        </p:nvSpPr>
        <p:spPr>
          <a:xfrm>
            <a:off x="6281640" y="1508760"/>
            <a:ext cx="2514600" cy="360"/>
          </a:xfrm>
          <a:prstGeom prst="line">
            <a:avLst/>
          </a:prstGeom>
          <a:ln w="9525">
            <a:solidFill>
              <a:srgbClr val="d0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6282000" y="1572840"/>
            <a:ext cx="2513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Blood flows through tiny capillary vessels, delivering oxygen to cells. The narrow vessels and surface tension keep flow steady.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411480" y="288036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4"/>
          <p:cNvSpPr/>
          <p:nvPr/>
        </p:nvSpPr>
        <p:spPr>
          <a:xfrm>
            <a:off x="2148840" y="2971800"/>
            <a:ext cx="867960" cy="255240"/>
          </a:xfrm>
          <a:prstGeom prst="rect">
            <a:avLst/>
          </a:prstGeom>
          <a:solidFill>
            <a:srgbClr val="ffbe0b"/>
          </a:solidFill>
          <a:ln w="127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2148840" y="2971800"/>
            <a:ext cx="867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be0b"/>
                </a:solidFill>
                <a:latin typeface="Calibri"/>
              </a:rPr>
              <a:t>Daily Life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502920" y="2953440"/>
            <a:ext cx="456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🧻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1005840" y="2971800"/>
            <a:ext cx="1096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2342"/>
                </a:solidFill>
                <a:latin typeface="Calibri"/>
              </a:rPr>
              <a:t>Paper &amp; Towels Absorb Liquid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8"/>
          <p:cNvSpPr/>
          <p:nvPr/>
        </p:nvSpPr>
        <p:spPr>
          <a:xfrm>
            <a:off x="520920" y="3474720"/>
            <a:ext cx="2514600" cy="360"/>
          </a:xfrm>
          <a:prstGeom prst="line">
            <a:avLst/>
          </a:prstGeom>
          <a:ln w="9525">
            <a:solidFill>
              <a:srgbClr val="d0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9"/>
          <p:cNvSpPr/>
          <p:nvPr/>
        </p:nvSpPr>
        <p:spPr>
          <a:xfrm>
            <a:off x="521280" y="3538800"/>
            <a:ext cx="2513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The fibrous network of paper creates countless micro-channels. Capillary action wicks liquid throughout the material rapidly.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30"/>
          <p:cNvSpPr/>
          <p:nvPr/>
        </p:nvSpPr>
        <p:spPr>
          <a:xfrm>
            <a:off x="3291840" y="288036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31"/>
          <p:cNvSpPr/>
          <p:nvPr/>
        </p:nvSpPr>
        <p:spPr>
          <a:xfrm>
            <a:off x="5029200" y="2971800"/>
            <a:ext cx="867960" cy="255240"/>
          </a:xfrm>
          <a:prstGeom prst="rect">
            <a:avLst/>
          </a:prstGeom>
          <a:solidFill>
            <a:srgbClr val="8338ec"/>
          </a:solidFill>
          <a:ln w="12700">
            <a:solidFill>
              <a:srgbClr val="8338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2"/>
          <p:cNvSpPr/>
          <p:nvPr/>
        </p:nvSpPr>
        <p:spPr>
          <a:xfrm>
            <a:off x="5029200" y="2971800"/>
            <a:ext cx="867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338ec"/>
                </a:solidFill>
                <a:latin typeface="Calibri"/>
              </a:rPr>
              <a:t>Earth Science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33"/>
          <p:cNvSpPr/>
          <p:nvPr/>
        </p:nvSpPr>
        <p:spPr>
          <a:xfrm>
            <a:off x="3383280" y="2953440"/>
            <a:ext cx="456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🏔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4"/>
          <p:cNvSpPr/>
          <p:nvPr/>
        </p:nvSpPr>
        <p:spPr>
          <a:xfrm>
            <a:off x="3886200" y="2971800"/>
            <a:ext cx="1096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2342"/>
                </a:solidFill>
                <a:latin typeface="Calibri"/>
              </a:rPr>
              <a:t>Water Movement in Soil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35"/>
          <p:cNvSpPr/>
          <p:nvPr/>
        </p:nvSpPr>
        <p:spPr>
          <a:xfrm>
            <a:off x="3401280" y="3474720"/>
            <a:ext cx="2514600" cy="360"/>
          </a:xfrm>
          <a:prstGeom prst="line">
            <a:avLst/>
          </a:prstGeom>
          <a:ln w="9525">
            <a:solidFill>
              <a:srgbClr val="d0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6"/>
          <p:cNvSpPr/>
          <p:nvPr/>
        </p:nvSpPr>
        <p:spPr>
          <a:xfrm>
            <a:off x="3401640" y="3538800"/>
            <a:ext cx="2513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Groundwater rises through soil particles via capillarity, keeping topsoil moist and enabling plant root absorption.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7"/>
          <p:cNvSpPr/>
          <p:nvPr/>
        </p:nvSpPr>
        <p:spPr>
          <a:xfrm>
            <a:off x="6172200" y="2880360"/>
            <a:ext cx="2742480" cy="1782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8"/>
          <p:cNvSpPr/>
          <p:nvPr/>
        </p:nvSpPr>
        <p:spPr>
          <a:xfrm>
            <a:off x="7909560" y="2971800"/>
            <a:ext cx="867960" cy="255240"/>
          </a:xfrm>
          <a:prstGeom prst="rect">
            <a:avLst/>
          </a:prstGeom>
          <a:solidFill>
            <a:srgbClr val="fb5607"/>
          </a:solidFill>
          <a:ln w="12700">
            <a:solidFill>
              <a:srgbClr val="fb560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9"/>
          <p:cNvSpPr/>
          <p:nvPr/>
        </p:nvSpPr>
        <p:spPr>
          <a:xfrm>
            <a:off x="7909560" y="2971800"/>
            <a:ext cx="867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b5607"/>
                </a:solidFill>
                <a:latin typeface="Calibri"/>
              </a:rPr>
              <a:t>Medical Tech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40"/>
          <p:cNvSpPr/>
          <p:nvPr/>
        </p:nvSpPr>
        <p:spPr>
          <a:xfrm>
            <a:off x="6263640" y="2953440"/>
            <a:ext cx="456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41"/>
          <p:cNvSpPr/>
          <p:nvPr/>
        </p:nvSpPr>
        <p:spPr>
          <a:xfrm>
            <a:off x="6766560" y="2971800"/>
            <a:ext cx="10965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a2342"/>
                </a:solidFill>
                <a:latin typeface="Calibri"/>
              </a:rPr>
              <a:t>Medical Diagnostic Strips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42"/>
          <p:cNvSpPr/>
          <p:nvPr/>
        </p:nvSpPr>
        <p:spPr>
          <a:xfrm>
            <a:off x="6281640" y="3474720"/>
            <a:ext cx="2514600" cy="360"/>
          </a:xfrm>
          <a:prstGeom prst="line">
            <a:avLst/>
          </a:prstGeom>
          <a:ln w="9525">
            <a:solidFill>
              <a:srgbClr val="d0e8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3"/>
          <p:cNvSpPr/>
          <p:nvPr/>
        </p:nvSpPr>
        <p:spPr>
          <a:xfrm>
            <a:off x="6282000" y="3538800"/>
            <a:ext cx="2513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2e"/>
                </a:solidFill>
                <a:latin typeface="Calibri"/>
              </a:rPr>
              <a:t>Blood glucose and COVID test strips use capillary flow to draw a small blood or fluid sample through the test membrane automatically.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29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32"/>
          <p:cNvSpPr/>
          <p:nvPr/>
        </p:nvSpPr>
        <p:spPr>
          <a:xfrm>
            <a:off x="6949440" y="365760"/>
            <a:ext cx="2559600" cy="2559600"/>
          </a:xfrm>
          <a:prstGeom prst="ellipse">
            <a:avLst/>
          </a:prstGeom>
          <a:solidFill>
            <a:srgbClr val="126da6"/>
          </a:solidFill>
          <a:ln w="12700">
            <a:solidFill>
              <a:srgbClr val="126d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33"/>
          <p:cNvSpPr/>
          <p:nvPr/>
        </p:nvSpPr>
        <p:spPr>
          <a:xfrm>
            <a:off x="7498080" y="1097280"/>
            <a:ext cx="1645200" cy="16452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34"/>
          <p:cNvSpPr/>
          <p:nvPr/>
        </p:nvSpPr>
        <p:spPr>
          <a:xfrm>
            <a:off x="6583680" y="1645920"/>
            <a:ext cx="1096560" cy="109656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35"/>
          <p:cNvSpPr/>
          <p:nvPr/>
        </p:nvSpPr>
        <p:spPr>
          <a:xfrm>
            <a:off x="548640" y="1097280"/>
            <a:ext cx="64000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7"/>
          <p:cNvSpPr/>
          <p:nvPr/>
        </p:nvSpPr>
        <p:spPr>
          <a:xfrm>
            <a:off x="548640" y="2057400"/>
            <a:ext cx="6400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c2cb"/>
                </a:solidFill>
                <a:latin typeface="Calibri"/>
                <a:ea typeface="Calibri"/>
              </a:rPr>
              <a:t>Presenter: Kartika Nidhi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8"/>
          <p:cNvSpPr/>
          <p:nvPr/>
        </p:nvSpPr>
        <p:spPr>
          <a:xfrm>
            <a:off x="548640" y="288036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36"/>
          <p:cNvSpPr/>
          <p:nvPr/>
        </p:nvSpPr>
        <p:spPr>
          <a:xfrm>
            <a:off x="0" y="4983480"/>
            <a:ext cx="9143280" cy="159480"/>
          </a:xfrm>
          <a:prstGeom prst="rect">
            <a:avLst/>
          </a:prstGeom>
          <a:solidFill>
            <a:srgbClr val="126da6"/>
          </a:solidFill>
          <a:ln w="12700">
            <a:solidFill>
              <a:srgbClr val="126d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42"/>
          <p:cNvSpPr/>
          <p:nvPr/>
        </p:nvSpPr>
        <p:spPr>
          <a:xfrm>
            <a:off x="0" y="4956120"/>
            <a:ext cx="9143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Physics — Fluid Properties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2026-04-22T10:28:00Z</dcterms:created>
  <dc:creator>PptxGenJS</dc:creator>
  <dc:description/>
  <dc:language>en-US</dc:language>
  <cp:lastModifiedBy/>
  <dcterms:modified xsi:type="dcterms:W3CDTF">2026-04-24T16:02:16Z</dcterms:modified>
  <cp:revision>3</cp:revision>
  <dc:subject>PptxGenJS Presentation</dc:subject>
  <dc:title>Surface Tension &amp; Capillary Action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