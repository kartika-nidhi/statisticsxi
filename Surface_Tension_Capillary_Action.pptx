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85642D9-4E5E-413F-A2CA-59A782FFADC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E92C15-A255-46FE-9D05-3634DCEDD6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ECF1F4-195E-4599-81D5-EFBE700856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8D860A-3A43-41B3-AF5A-4072D9F824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73B5C44-BD63-4697-9129-849BEEE13BF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4E87D7-3691-4E50-B550-8F909D14165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C286EA-8C9C-4F35-8820-77F06FD977F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C9F02E-2186-43FD-99D5-A7433806FD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6949440" y="365760"/>
            <a:ext cx="2559960" cy="255996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126d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7498080" y="1097280"/>
            <a:ext cx="1645560" cy="164556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6583680" y="1645920"/>
            <a:ext cx="1096920" cy="109692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48640" y="1097280"/>
            <a:ext cx="6400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  <a:ea typeface="Calibri"/>
              </a:rPr>
              <a:t>Surface Tension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48640" y="2057400"/>
            <a:ext cx="6400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c2cb"/>
                </a:solidFill>
                <a:latin typeface="Calibri"/>
                <a:ea typeface="Calibri"/>
              </a:rPr>
              <a:t>&amp; Capillary Action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548640" y="288036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a0c4e2"/>
                </a:solidFill>
                <a:latin typeface="Calibri"/>
                <a:ea typeface="Calibri"/>
              </a:rPr>
              <a:t>Understanding the hidden forces that shape our world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26da6"/>
          </a:solidFill>
          <a:ln w="12700">
            <a:solidFill>
              <a:srgbClr val="126d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0" y="4956120"/>
            <a:ext cx="9143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Physics — Fluid Properties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502920" y="201240"/>
            <a:ext cx="7772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a2342"/>
                </a:solidFill>
                <a:latin typeface="Calibri"/>
                <a:ea typeface="Calibri"/>
              </a:rPr>
              <a:t>What is Surface Tension?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1"/>
          <p:cNvSpPr/>
          <p:nvPr/>
        </p:nvSpPr>
        <p:spPr>
          <a:xfrm>
            <a:off x="411480" y="201240"/>
            <a:ext cx="63720" cy="54828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2"/>
          <p:cNvSpPr/>
          <p:nvPr/>
        </p:nvSpPr>
        <p:spPr>
          <a:xfrm>
            <a:off x="411480" y="914400"/>
            <a:ext cx="4205880" cy="356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594360" y="1005840"/>
            <a:ext cx="384012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1" lang="en-US" sz="1500" spc="-1" strike="noStrike">
                <a:solidFill>
                  <a:srgbClr val="126da6"/>
                </a:solidFill>
                <a:latin typeface="Calibri"/>
              </a:rPr>
              <a:t>The Basic Idea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</a:rPr>
              <a:t>Liquids are made of molecules that attract each other. Inside the liquid, a molecule is pulled equally in all directions.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</a:rPr>
              <a:t>At the surface, however, there are no molecules above — so the surface molecules are pulled only sideways and downward.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1a2e"/>
                </a:solidFill>
                <a:latin typeface="Calibri"/>
              </a:rPr>
              <a:t>This net inward pull makes the surface behave like a stretched elastic skin — that 'skin' is surface tension.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4"/>
          <p:cNvSpPr/>
          <p:nvPr/>
        </p:nvSpPr>
        <p:spPr>
          <a:xfrm>
            <a:off x="4846320" y="914400"/>
            <a:ext cx="3931560" cy="356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5"/>
          <p:cNvSpPr/>
          <p:nvPr/>
        </p:nvSpPr>
        <p:spPr>
          <a:xfrm>
            <a:off x="5669280" y="137160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6"/>
          <p:cNvSpPr/>
          <p:nvPr/>
        </p:nvSpPr>
        <p:spPr>
          <a:xfrm>
            <a:off x="6217920" y="137160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7"/>
          <p:cNvSpPr/>
          <p:nvPr/>
        </p:nvSpPr>
        <p:spPr>
          <a:xfrm>
            <a:off x="6766560" y="137160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8"/>
          <p:cNvSpPr/>
          <p:nvPr/>
        </p:nvSpPr>
        <p:spPr>
          <a:xfrm>
            <a:off x="7315200" y="137160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9"/>
          <p:cNvSpPr/>
          <p:nvPr/>
        </p:nvSpPr>
        <p:spPr>
          <a:xfrm>
            <a:off x="7863840" y="137160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0"/>
          <p:cNvSpPr/>
          <p:nvPr/>
        </p:nvSpPr>
        <p:spPr>
          <a:xfrm>
            <a:off x="5669280" y="192024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11"/>
          <p:cNvSpPr/>
          <p:nvPr/>
        </p:nvSpPr>
        <p:spPr>
          <a:xfrm>
            <a:off x="6217920" y="192024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2"/>
          <p:cNvSpPr/>
          <p:nvPr/>
        </p:nvSpPr>
        <p:spPr>
          <a:xfrm>
            <a:off x="6766560" y="192024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13"/>
          <p:cNvSpPr/>
          <p:nvPr/>
        </p:nvSpPr>
        <p:spPr>
          <a:xfrm>
            <a:off x="7315200" y="192024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14"/>
          <p:cNvSpPr/>
          <p:nvPr/>
        </p:nvSpPr>
        <p:spPr>
          <a:xfrm>
            <a:off x="7863840" y="192024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15"/>
          <p:cNvSpPr/>
          <p:nvPr/>
        </p:nvSpPr>
        <p:spPr>
          <a:xfrm>
            <a:off x="5669280" y="246888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16"/>
          <p:cNvSpPr/>
          <p:nvPr/>
        </p:nvSpPr>
        <p:spPr>
          <a:xfrm>
            <a:off x="6217920" y="246888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17"/>
          <p:cNvSpPr/>
          <p:nvPr/>
        </p:nvSpPr>
        <p:spPr>
          <a:xfrm>
            <a:off x="6766560" y="246888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18"/>
          <p:cNvSpPr/>
          <p:nvPr/>
        </p:nvSpPr>
        <p:spPr>
          <a:xfrm>
            <a:off x="7315200" y="246888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19"/>
          <p:cNvSpPr/>
          <p:nvPr/>
        </p:nvSpPr>
        <p:spPr>
          <a:xfrm>
            <a:off x="7863840" y="2468880"/>
            <a:ext cx="255600" cy="25560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0"/>
          <p:cNvSpPr/>
          <p:nvPr/>
        </p:nvSpPr>
        <p:spPr>
          <a:xfrm>
            <a:off x="5669280" y="3017520"/>
            <a:ext cx="273960" cy="27396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21"/>
          <p:cNvSpPr/>
          <p:nvPr/>
        </p:nvSpPr>
        <p:spPr>
          <a:xfrm>
            <a:off x="6217920" y="3017520"/>
            <a:ext cx="273960" cy="27396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22"/>
          <p:cNvSpPr/>
          <p:nvPr/>
        </p:nvSpPr>
        <p:spPr>
          <a:xfrm>
            <a:off x="6766560" y="3017520"/>
            <a:ext cx="273960" cy="27396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23"/>
          <p:cNvSpPr/>
          <p:nvPr/>
        </p:nvSpPr>
        <p:spPr>
          <a:xfrm>
            <a:off x="7315200" y="3017520"/>
            <a:ext cx="273960" cy="27396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24"/>
          <p:cNvSpPr/>
          <p:nvPr/>
        </p:nvSpPr>
        <p:spPr>
          <a:xfrm>
            <a:off x="7863840" y="3017520"/>
            <a:ext cx="273960" cy="27396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a23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25"/>
          <p:cNvSpPr/>
          <p:nvPr/>
        </p:nvSpPr>
        <p:spPr>
          <a:xfrm flipV="1">
            <a:off x="6894360" y="2560320"/>
            <a:ext cx="360" cy="457200"/>
          </a:xfrm>
          <a:prstGeom prst="line">
            <a:avLst/>
          </a:prstGeom>
          <a:ln w="254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26"/>
          <p:cNvSpPr/>
          <p:nvPr/>
        </p:nvSpPr>
        <p:spPr>
          <a:xfrm flipH="1">
            <a:off x="6309360" y="3154680"/>
            <a:ext cx="457200" cy="360"/>
          </a:xfrm>
          <a:prstGeom prst="line">
            <a:avLst/>
          </a:prstGeom>
          <a:ln w="254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27"/>
          <p:cNvSpPr/>
          <p:nvPr/>
        </p:nvSpPr>
        <p:spPr>
          <a:xfrm>
            <a:off x="7040880" y="3154680"/>
            <a:ext cx="457200" cy="360"/>
          </a:xfrm>
          <a:prstGeom prst="line">
            <a:avLst/>
          </a:prstGeom>
          <a:ln w="254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28"/>
          <p:cNvSpPr/>
          <p:nvPr/>
        </p:nvSpPr>
        <p:spPr>
          <a:xfrm>
            <a:off x="6894360" y="3291840"/>
            <a:ext cx="360" cy="365760"/>
          </a:xfrm>
          <a:prstGeom prst="line">
            <a:avLst/>
          </a:prstGeom>
          <a:ln w="254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29"/>
          <p:cNvSpPr/>
          <p:nvPr/>
        </p:nvSpPr>
        <p:spPr>
          <a:xfrm>
            <a:off x="4937760" y="3429000"/>
            <a:ext cx="3748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4a6fa5"/>
                </a:solidFill>
                <a:latin typeface="Calibri"/>
              </a:rPr>
              <a:t>← </a:t>
            </a:r>
            <a:r>
              <a:rPr b="0" i="1" lang="en-US" sz="1000" spc="-1" strike="noStrike">
                <a:solidFill>
                  <a:srgbClr val="4a6fa5"/>
                </a:solidFill>
                <a:latin typeface="Calibri"/>
              </a:rPr>
              <a:t>Surface molecule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4a6fa5"/>
                </a:solidFill>
                <a:latin typeface="Calibri"/>
              </a:rPr>
              <a:t>(pulled inward &amp; sideways)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30"/>
          <p:cNvSpPr/>
          <p:nvPr/>
        </p:nvSpPr>
        <p:spPr>
          <a:xfrm>
            <a:off x="4937760" y="1064160"/>
            <a:ext cx="374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4a6fa5"/>
                </a:solidFill>
                <a:latin typeface="Calibri"/>
              </a:rPr>
              <a:t>Interior molecules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4a6fa5"/>
                </a:solidFill>
                <a:latin typeface="Calibri"/>
              </a:rPr>
              <a:t>(equal pull all around)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32"/>
          <p:cNvSpPr/>
          <p:nvPr/>
        </p:nvSpPr>
        <p:spPr>
          <a:xfrm>
            <a:off x="4937760" y="93276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398" strike="noStrike">
                <a:solidFill>
                  <a:srgbClr val="4a6fa5"/>
                </a:solidFill>
                <a:latin typeface="Calibri"/>
              </a:rPr>
              <a:t>L I Q U I 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33"/>
          <p:cNvSpPr/>
          <p:nvPr/>
        </p:nvSpPr>
        <p:spPr>
          <a:xfrm>
            <a:off x="411480" y="4617720"/>
            <a:ext cx="8320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4a6fa5"/>
                </a:solidFill>
                <a:latin typeface="Calibri"/>
              </a:rPr>
              <a:t>Molecule diagram — forces acting on surface vs. interior molecules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502920" y="20124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a2342"/>
                </a:solidFill>
                <a:latin typeface="Calibri"/>
                <a:ea typeface="Calibri"/>
              </a:rPr>
              <a:t>Factors Affecting Surface Tension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1"/>
          <p:cNvSpPr/>
          <p:nvPr/>
        </p:nvSpPr>
        <p:spPr>
          <a:xfrm>
            <a:off x="411480" y="201240"/>
            <a:ext cx="63720" cy="54828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2"/>
          <p:cNvSpPr/>
          <p:nvPr/>
        </p:nvSpPr>
        <p:spPr>
          <a:xfrm>
            <a:off x="411480" y="914400"/>
            <a:ext cx="4251600" cy="173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3"/>
          <p:cNvSpPr/>
          <p:nvPr/>
        </p:nvSpPr>
        <p:spPr>
          <a:xfrm>
            <a:off x="411480" y="914400"/>
            <a:ext cx="4251600" cy="109440"/>
          </a:xfrm>
          <a:prstGeom prst="rect">
            <a:avLst/>
          </a:prstGeom>
          <a:solidFill>
            <a:srgbClr val="fe6d73"/>
          </a:solidFill>
          <a:ln w="12700">
            <a:solidFill>
              <a:srgbClr val="fe6d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"/>
          <p:cNvSpPr/>
          <p:nvPr/>
        </p:nvSpPr>
        <p:spPr>
          <a:xfrm>
            <a:off x="576000" y="1042560"/>
            <a:ext cx="3840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2342"/>
                </a:solidFill>
                <a:latin typeface="Calibri"/>
              </a:rPr>
              <a:t>🌡  </a:t>
            </a:r>
            <a:r>
              <a:rPr b="1" lang="en-US" sz="1400" spc="-1" strike="noStrike">
                <a:solidFill>
                  <a:srgbClr val="0a2342"/>
                </a:solidFill>
                <a:latin typeface="Calibri"/>
              </a:rPr>
              <a:t>Temperature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5"/>
          <p:cNvSpPr/>
          <p:nvPr/>
        </p:nvSpPr>
        <p:spPr>
          <a:xfrm>
            <a:off x="576000" y="1353240"/>
            <a:ext cx="3840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As temperature rises, molecules move faster and intermolecular forces weaken. Surface tension decreases with increasing temperature.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6"/>
          <p:cNvSpPr/>
          <p:nvPr/>
        </p:nvSpPr>
        <p:spPr>
          <a:xfrm>
            <a:off x="576000" y="2057400"/>
            <a:ext cx="3931560" cy="456840"/>
          </a:xfrm>
          <a:prstGeom prst="rect">
            <a:avLst/>
          </a:prstGeom>
          <a:solidFill>
            <a:srgbClr val="fe6d73"/>
          </a:solidFill>
          <a:ln w="12700">
            <a:solidFill>
              <a:srgbClr val="fe6d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7"/>
          <p:cNvSpPr/>
          <p:nvPr/>
        </p:nvSpPr>
        <p:spPr>
          <a:xfrm>
            <a:off x="612720" y="2084760"/>
            <a:ext cx="3748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e.g. Hot water spreads more easily than cold.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8"/>
          <p:cNvSpPr/>
          <p:nvPr/>
        </p:nvSpPr>
        <p:spPr>
          <a:xfrm>
            <a:off x="4800600" y="914400"/>
            <a:ext cx="4251600" cy="173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9"/>
          <p:cNvSpPr/>
          <p:nvPr/>
        </p:nvSpPr>
        <p:spPr>
          <a:xfrm>
            <a:off x="4800600" y="914400"/>
            <a:ext cx="4251600" cy="109440"/>
          </a:xfrm>
          <a:prstGeom prst="rect">
            <a:avLst/>
          </a:prstGeom>
          <a:solidFill>
            <a:srgbClr val="ffbe0b"/>
          </a:solidFill>
          <a:ln w="12700">
            <a:solidFill>
              <a:srgbClr val="ffb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10"/>
          <p:cNvSpPr/>
          <p:nvPr/>
        </p:nvSpPr>
        <p:spPr>
          <a:xfrm>
            <a:off x="4965120" y="1042560"/>
            <a:ext cx="3840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2342"/>
                </a:solidFill>
                <a:latin typeface="Calibri"/>
              </a:rPr>
              <a:t>🧪  </a:t>
            </a:r>
            <a:r>
              <a:rPr b="1" lang="en-US" sz="1400" spc="-1" strike="noStrike">
                <a:solidFill>
                  <a:srgbClr val="0a2342"/>
                </a:solidFill>
                <a:latin typeface="Calibri"/>
              </a:rPr>
              <a:t>Solutes / Impurities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11"/>
          <p:cNvSpPr/>
          <p:nvPr/>
        </p:nvSpPr>
        <p:spPr>
          <a:xfrm>
            <a:off x="4965120" y="1353240"/>
            <a:ext cx="3840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Adding solutes changes cohesion. Surfactants (soaps, detergents) drastically reduce surface tension by disrupting molecular bonds.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12"/>
          <p:cNvSpPr/>
          <p:nvPr/>
        </p:nvSpPr>
        <p:spPr>
          <a:xfrm>
            <a:off x="4965120" y="2057400"/>
            <a:ext cx="3931560" cy="456840"/>
          </a:xfrm>
          <a:prstGeom prst="rect">
            <a:avLst/>
          </a:prstGeom>
          <a:solidFill>
            <a:srgbClr val="ffbe0b"/>
          </a:solidFill>
          <a:ln w="12700">
            <a:solidFill>
              <a:srgbClr val="ffb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3"/>
          <p:cNvSpPr/>
          <p:nvPr/>
        </p:nvSpPr>
        <p:spPr>
          <a:xfrm>
            <a:off x="5001840" y="2084760"/>
            <a:ext cx="3748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e.g. Soap breaks water's surface film.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4"/>
          <p:cNvSpPr/>
          <p:nvPr/>
        </p:nvSpPr>
        <p:spPr>
          <a:xfrm>
            <a:off x="411480" y="2880360"/>
            <a:ext cx="4251600" cy="173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5"/>
          <p:cNvSpPr/>
          <p:nvPr/>
        </p:nvSpPr>
        <p:spPr>
          <a:xfrm>
            <a:off x="411480" y="2880360"/>
            <a:ext cx="4251600" cy="10944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6"/>
          <p:cNvSpPr/>
          <p:nvPr/>
        </p:nvSpPr>
        <p:spPr>
          <a:xfrm>
            <a:off x="576000" y="3008520"/>
            <a:ext cx="3840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2342"/>
                </a:solidFill>
                <a:latin typeface="Calibri"/>
              </a:rPr>
              <a:t>⚡  </a:t>
            </a:r>
            <a:r>
              <a:rPr b="1" lang="en-US" sz="1400" spc="-1" strike="noStrike">
                <a:solidFill>
                  <a:srgbClr val="0a2342"/>
                </a:solidFill>
                <a:latin typeface="Calibri"/>
              </a:rPr>
              <a:t>Nature of Liquid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17"/>
          <p:cNvSpPr/>
          <p:nvPr/>
        </p:nvSpPr>
        <p:spPr>
          <a:xfrm>
            <a:off x="576000" y="3319200"/>
            <a:ext cx="3840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Liquids with stronger intermolecular forces (like water with hydrogen bonding) have higher surface tension than weaker liquids.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8"/>
          <p:cNvSpPr/>
          <p:nvPr/>
        </p:nvSpPr>
        <p:spPr>
          <a:xfrm>
            <a:off x="576000" y="4023360"/>
            <a:ext cx="3931560" cy="45684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19"/>
          <p:cNvSpPr/>
          <p:nvPr/>
        </p:nvSpPr>
        <p:spPr>
          <a:xfrm>
            <a:off x="612720" y="4050720"/>
            <a:ext cx="3748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e.g. Water &gt; ethanol &gt; petrol in surface tension.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20"/>
          <p:cNvSpPr/>
          <p:nvPr/>
        </p:nvSpPr>
        <p:spPr>
          <a:xfrm>
            <a:off x="4800600" y="2880360"/>
            <a:ext cx="4251600" cy="173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21"/>
          <p:cNvSpPr/>
          <p:nvPr/>
        </p:nvSpPr>
        <p:spPr>
          <a:xfrm>
            <a:off x="4800600" y="2880360"/>
            <a:ext cx="4251600" cy="109440"/>
          </a:xfrm>
          <a:prstGeom prst="rect">
            <a:avLst/>
          </a:prstGeom>
          <a:solidFill>
            <a:srgbClr val="8338ec"/>
          </a:solidFill>
          <a:ln w="12700">
            <a:solidFill>
              <a:srgbClr val="833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22"/>
          <p:cNvSpPr/>
          <p:nvPr/>
        </p:nvSpPr>
        <p:spPr>
          <a:xfrm>
            <a:off x="4965120" y="3008520"/>
            <a:ext cx="3840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2342"/>
                </a:solidFill>
                <a:latin typeface="Calibri"/>
              </a:rPr>
              <a:t>🌀  </a:t>
            </a:r>
            <a:r>
              <a:rPr b="1" lang="en-US" sz="1400" spc="-1" strike="noStrike">
                <a:solidFill>
                  <a:srgbClr val="0a2342"/>
                </a:solidFill>
                <a:latin typeface="Calibri"/>
              </a:rPr>
              <a:t>Pressure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23"/>
          <p:cNvSpPr/>
          <p:nvPr/>
        </p:nvSpPr>
        <p:spPr>
          <a:xfrm>
            <a:off x="4965120" y="3319200"/>
            <a:ext cx="3840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Increasing external pressure generally increases surface tension slightly, as molecules are packed closer together.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4"/>
          <p:cNvSpPr/>
          <p:nvPr/>
        </p:nvSpPr>
        <p:spPr>
          <a:xfrm>
            <a:off x="4965120" y="4023360"/>
            <a:ext cx="3931560" cy="456840"/>
          </a:xfrm>
          <a:prstGeom prst="rect">
            <a:avLst/>
          </a:prstGeom>
          <a:solidFill>
            <a:srgbClr val="8338ec"/>
          </a:solidFill>
          <a:ln w="12700">
            <a:solidFill>
              <a:srgbClr val="833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25"/>
          <p:cNvSpPr/>
          <p:nvPr/>
        </p:nvSpPr>
        <p:spPr>
          <a:xfrm>
            <a:off x="5001840" y="4050720"/>
            <a:ext cx="3748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e.g. High-pressure environments compress the liquid surface.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502920" y="20124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a2342"/>
                </a:solidFill>
                <a:latin typeface="Calibri"/>
                <a:ea typeface="Calibri"/>
              </a:rPr>
              <a:t>Real-World Examples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1"/>
          <p:cNvSpPr/>
          <p:nvPr/>
        </p:nvSpPr>
        <p:spPr>
          <a:xfrm>
            <a:off x="411480" y="201240"/>
            <a:ext cx="63720" cy="54828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2"/>
          <p:cNvSpPr/>
          <p:nvPr/>
        </p:nvSpPr>
        <p:spPr>
          <a:xfrm>
            <a:off x="411480" y="914400"/>
            <a:ext cx="274284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3"/>
          <p:cNvSpPr/>
          <p:nvPr/>
        </p:nvSpPr>
        <p:spPr>
          <a:xfrm>
            <a:off x="502920" y="10058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💧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4"/>
          <p:cNvSpPr/>
          <p:nvPr/>
        </p:nvSpPr>
        <p:spPr>
          <a:xfrm>
            <a:off x="1051560" y="100584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2342"/>
                </a:solidFill>
                <a:latin typeface="Calibri"/>
              </a:rPr>
              <a:t>Water Droplets Are Spherical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5"/>
          <p:cNvSpPr/>
          <p:nvPr/>
        </p:nvSpPr>
        <p:spPr>
          <a:xfrm>
            <a:off x="502920" y="1536120"/>
            <a:ext cx="2560320" cy="360"/>
          </a:xfrm>
          <a:prstGeom prst="line">
            <a:avLst/>
          </a:prstGeom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6"/>
          <p:cNvSpPr/>
          <p:nvPr/>
        </p:nvSpPr>
        <p:spPr>
          <a:xfrm>
            <a:off x="502920" y="1600200"/>
            <a:ext cx="2559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Why: Surface tension minimises surface area for a given volume. A sphere has the minimum surface area, so water naturally pulls itself into that shape.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7"/>
          <p:cNvSpPr/>
          <p:nvPr/>
        </p:nvSpPr>
        <p:spPr>
          <a:xfrm>
            <a:off x="3291840" y="914400"/>
            <a:ext cx="274284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8"/>
          <p:cNvSpPr/>
          <p:nvPr/>
        </p:nvSpPr>
        <p:spPr>
          <a:xfrm>
            <a:off x="3383280" y="10058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🦟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9"/>
          <p:cNvSpPr/>
          <p:nvPr/>
        </p:nvSpPr>
        <p:spPr>
          <a:xfrm>
            <a:off x="3931920" y="100584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2342"/>
                </a:solidFill>
                <a:latin typeface="Calibri"/>
              </a:rPr>
              <a:t>Insects Walk on Water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10"/>
          <p:cNvSpPr/>
          <p:nvPr/>
        </p:nvSpPr>
        <p:spPr>
          <a:xfrm>
            <a:off x="3383280" y="1536120"/>
            <a:ext cx="2560320" cy="360"/>
          </a:xfrm>
          <a:prstGeom prst="line">
            <a:avLst/>
          </a:prstGeom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11"/>
          <p:cNvSpPr/>
          <p:nvPr/>
        </p:nvSpPr>
        <p:spPr>
          <a:xfrm>
            <a:off x="3383280" y="1600200"/>
            <a:ext cx="2559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Why: Pond skaters are light enough that their legs don't break the surface 'skin'. The elastic surface supports their weight without puncturing.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12"/>
          <p:cNvSpPr/>
          <p:nvPr/>
        </p:nvSpPr>
        <p:spPr>
          <a:xfrm>
            <a:off x="6172200" y="914400"/>
            <a:ext cx="274284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13"/>
          <p:cNvSpPr/>
          <p:nvPr/>
        </p:nvSpPr>
        <p:spPr>
          <a:xfrm>
            <a:off x="6263640" y="10058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🫧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14"/>
          <p:cNvSpPr/>
          <p:nvPr/>
        </p:nvSpPr>
        <p:spPr>
          <a:xfrm>
            <a:off x="6812280" y="100584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2342"/>
                </a:solidFill>
                <a:latin typeface="Calibri"/>
              </a:rPr>
              <a:t>Soap Bubbles Hold Their Shape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15"/>
          <p:cNvSpPr/>
          <p:nvPr/>
        </p:nvSpPr>
        <p:spPr>
          <a:xfrm>
            <a:off x="6263640" y="1536120"/>
            <a:ext cx="2560320" cy="360"/>
          </a:xfrm>
          <a:prstGeom prst="line">
            <a:avLst/>
          </a:prstGeom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6"/>
          <p:cNvSpPr/>
          <p:nvPr/>
        </p:nvSpPr>
        <p:spPr>
          <a:xfrm>
            <a:off x="6263640" y="1600200"/>
            <a:ext cx="2559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Why: A soap film has two surfaces. Surface tension on both sides pulls inward, enclosing air and forming a stable spherical shell.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17"/>
          <p:cNvSpPr/>
          <p:nvPr/>
        </p:nvSpPr>
        <p:spPr>
          <a:xfrm>
            <a:off x="411480" y="2834640"/>
            <a:ext cx="274284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18"/>
          <p:cNvSpPr/>
          <p:nvPr/>
        </p:nvSpPr>
        <p:spPr>
          <a:xfrm>
            <a:off x="502920" y="2926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🪡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19"/>
          <p:cNvSpPr/>
          <p:nvPr/>
        </p:nvSpPr>
        <p:spPr>
          <a:xfrm>
            <a:off x="1051560" y="292608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2342"/>
                </a:solidFill>
                <a:latin typeface="Calibri"/>
              </a:rPr>
              <a:t>Needle Floating on Water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20"/>
          <p:cNvSpPr/>
          <p:nvPr/>
        </p:nvSpPr>
        <p:spPr>
          <a:xfrm>
            <a:off x="502920" y="3456360"/>
            <a:ext cx="2560320" cy="360"/>
          </a:xfrm>
          <a:prstGeom prst="line">
            <a:avLst/>
          </a:prstGeom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21"/>
          <p:cNvSpPr/>
          <p:nvPr/>
        </p:nvSpPr>
        <p:spPr>
          <a:xfrm>
            <a:off x="502920" y="3520440"/>
            <a:ext cx="2559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Why: A steel needle, denser than water, can rest on the surface because surface tension distributes the needle's weight across a large film area.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22"/>
          <p:cNvSpPr/>
          <p:nvPr/>
        </p:nvSpPr>
        <p:spPr>
          <a:xfrm>
            <a:off x="3291840" y="2834640"/>
            <a:ext cx="274284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23"/>
          <p:cNvSpPr/>
          <p:nvPr/>
        </p:nvSpPr>
        <p:spPr>
          <a:xfrm>
            <a:off x="3383280" y="2926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🌿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24"/>
          <p:cNvSpPr/>
          <p:nvPr/>
        </p:nvSpPr>
        <p:spPr>
          <a:xfrm>
            <a:off x="3931920" y="292608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2342"/>
                </a:solidFill>
                <a:latin typeface="Calibri"/>
              </a:rPr>
              <a:t>Lotus Leaf — Water Rolls Off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25"/>
          <p:cNvSpPr/>
          <p:nvPr/>
        </p:nvSpPr>
        <p:spPr>
          <a:xfrm>
            <a:off x="3383280" y="3456360"/>
            <a:ext cx="2560320" cy="360"/>
          </a:xfrm>
          <a:prstGeom prst="line">
            <a:avLst/>
          </a:prstGeom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26"/>
          <p:cNvSpPr/>
          <p:nvPr/>
        </p:nvSpPr>
        <p:spPr>
          <a:xfrm>
            <a:off x="3383280" y="3520440"/>
            <a:ext cx="2559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Why: Micro-structure of the leaf makes water contract into beads (high surface tension) which roll away, keeping the leaf clean.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27"/>
          <p:cNvSpPr/>
          <p:nvPr/>
        </p:nvSpPr>
        <p:spPr>
          <a:xfrm>
            <a:off x="6172200" y="2834640"/>
            <a:ext cx="274284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28"/>
          <p:cNvSpPr/>
          <p:nvPr/>
        </p:nvSpPr>
        <p:spPr>
          <a:xfrm>
            <a:off x="6263640" y="2926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🧹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29"/>
          <p:cNvSpPr/>
          <p:nvPr/>
        </p:nvSpPr>
        <p:spPr>
          <a:xfrm>
            <a:off x="6812280" y="2926080"/>
            <a:ext cx="20113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2342"/>
                </a:solidFill>
                <a:latin typeface="Calibri"/>
              </a:rPr>
              <a:t>Soap Cleans Better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30"/>
          <p:cNvSpPr/>
          <p:nvPr/>
        </p:nvSpPr>
        <p:spPr>
          <a:xfrm>
            <a:off x="6263640" y="3456360"/>
            <a:ext cx="2560320" cy="360"/>
          </a:xfrm>
          <a:prstGeom prst="line">
            <a:avLst/>
          </a:prstGeom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31"/>
          <p:cNvSpPr/>
          <p:nvPr/>
        </p:nvSpPr>
        <p:spPr>
          <a:xfrm>
            <a:off x="6263640" y="3520440"/>
            <a:ext cx="2559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Why: Soap lowers surface tension, letting water spread into tiny crevices and lift away grease that water alone cannot reach.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502920" y="20124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  <a:ea typeface="Calibri"/>
              </a:rPr>
              <a:t>Capillary Action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1"/>
          <p:cNvSpPr/>
          <p:nvPr/>
        </p:nvSpPr>
        <p:spPr>
          <a:xfrm>
            <a:off x="411480" y="201240"/>
            <a:ext cx="63720" cy="54828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Shape 2"/>
          <p:cNvSpPr/>
          <p:nvPr/>
        </p:nvSpPr>
        <p:spPr>
          <a:xfrm>
            <a:off x="411480" y="868680"/>
            <a:ext cx="8320680" cy="1005480"/>
          </a:xfrm>
          <a:prstGeom prst="rect">
            <a:avLst/>
          </a:prstGeom>
          <a:solidFill>
            <a:srgbClr val="112244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Shape 3"/>
          <p:cNvSpPr/>
          <p:nvPr/>
        </p:nvSpPr>
        <p:spPr>
          <a:xfrm>
            <a:off x="411480" y="868680"/>
            <a:ext cx="8320680" cy="5436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594360" y="969120"/>
            <a:ext cx="7954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c8e6ff"/>
                </a:solidFill>
                <a:latin typeface="Calibri"/>
              </a:rPr>
              <a:t>Capillary action (or capillarity) is the ability of a liquid to flow in narrow spaces without — and even against — the assistance of external forces like gravity.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502920" y="199332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0c2cb"/>
                </a:solidFill>
                <a:latin typeface="Calibri"/>
              </a:rPr>
              <a:t>Two competing forces drive capillarity: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411480" y="2359080"/>
            <a:ext cx="4023000" cy="1828440"/>
          </a:xfrm>
          <a:prstGeom prst="rect">
            <a:avLst/>
          </a:prstGeom>
          <a:solidFill>
            <a:srgbClr val="0e2a45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594360" y="24231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0c2cb"/>
                </a:solidFill>
                <a:latin typeface="Calibri"/>
              </a:rPr>
              <a:t>Adhesion  🔗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594360" y="2816280"/>
            <a:ext cx="3657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a8d4ff"/>
                </a:solidFill>
                <a:latin typeface="Calibri"/>
              </a:rPr>
              <a:t>Attraction between the liquid molecules and the tube wall. This pulls liquid up along the walls.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9"/>
          <p:cNvSpPr/>
          <p:nvPr/>
        </p:nvSpPr>
        <p:spPr>
          <a:xfrm>
            <a:off x="4434840" y="2926080"/>
            <a:ext cx="411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vs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Shape 10"/>
          <p:cNvSpPr/>
          <p:nvPr/>
        </p:nvSpPr>
        <p:spPr>
          <a:xfrm>
            <a:off x="4892040" y="2359080"/>
            <a:ext cx="3840120" cy="1828440"/>
          </a:xfrm>
          <a:prstGeom prst="rect">
            <a:avLst/>
          </a:prstGeom>
          <a:solidFill>
            <a:srgbClr val="0e2a45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5074920" y="242316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be0b"/>
                </a:solidFill>
                <a:latin typeface="Calibri"/>
              </a:rPr>
              <a:t>Cohesion  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12"/>
          <p:cNvSpPr/>
          <p:nvPr/>
        </p:nvSpPr>
        <p:spPr>
          <a:xfrm>
            <a:off x="5074920" y="2816280"/>
            <a:ext cx="3474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e07a"/>
                </a:solidFill>
                <a:latin typeface="Calibri"/>
              </a:rPr>
              <a:t>Attraction between liquid molecules themselves (e.g. hydrogen bonds in water). This resists upward 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13"/>
          <p:cNvSpPr/>
          <p:nvPr/>
        </p:nvSpPr>
        <p:spPr>
          <a:xfrm>
            <a:off x="411480" y="4316040"/>
            <a:ext cx="8320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7fb3d3"/>
                </a:solidFill>
                <a:latin typeface="Calibri"/>
              </a:rPr>
              <a:t>When adhesion &gt; cohesion → liquid rises (e.g. water in glass).   |   When cohesion &gt; adhesion → liquid is depressed (e.g. mercury in glass).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8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0"/>
          <p:cNvSpPr/>
          <p:nvPr/>
        </p:nvSpPr>
        <p:spPr>
          <a:xfrm>
            <a:off x="502920" y="20124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a2342"/>
                </a:solidFill>
                <a:latin typeface="Calibri"/>
                <a:ea typeface="Calibri"/>
              </a:rPr>
              <a:t>Applications of Capillary Action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1"/>
          <p:cNvSpPr/>
          <p:nvPr/>
        </p:nvSpPr>
        <p:spPr>
          <a:xfrm>
            <a:off x="411480" y="201240"/>
            <a:ext cx="63720" cy="54828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Shape 2"/>
          <p:cNvSpPr/>
          <p:nvPr/>
        </p:nvSpPr>
        <p:spPr>
          <a:xfrm>
            <a:off x="411480" y="914400"/>
            <a:ext cx="274284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3"/>
          <p:cNvSpPr/>
          <p:nvPr/>
        </p:nvSpPr>
        <p:spPr>
          <a:xfrm>
            <a:off x="2148840" y="1005840"/>
            <a:ext cx="868320" cy="25560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4"/>
          <p:cNvSpPr/>
          <p:nvPr/>
        </p:nvSpPr>
        <p:spPr>
          <a:xfrm>
            <a:off x="2148840" y="1005840"/>
            <a:ext cx="868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2dc653"/>
                </a:solidFill>
                <a:latin typeface="Calibri"/>
              </a:rPr>
              <a:t>Biology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502920" y="987480"/>
            <a:ext cx="4568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🌱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1005840" y="1005840"/>
            <a:ext cx="10969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2342"/>
                </a:solidFill>
                <a:latin typeface="Calibri"/>
              </a:rPr>
              <a:t>Water Transport in Plants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7"/>
          <p:cNvSpPr/>
          <p:nvPr/>
        </p:nvSpPr>
        <p:spPr>
          <a:xfrm>
            <a:off x="520920" y="1508760"/>
            <a:ext cx="2514600" cy="360"/>
          </a:xfrm>
          <a:prstGeom prst="line">
            <a:avLst/>
          </a:prstGeom>
          <a:ln w="9525">
            <a:solidFill>
              <a:srgbClr val="d0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8"/>
          <p:cNvSpPr/>
          <p:nvPr/>
        </p:nvSpPr>
        <p:spPr>
          <a:xfrm>
            <a:off x="521280" y="1572840"/>
            <a:ext cx="2514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Capillary action in xylem vessels carries water from roots all the way to leaves — hundreds of feet upward in tall trees.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9"/>
          <p:cNvSpPr/>
          <p:nvPr/>
        </p:nvSpPr>
        <p:spPr>
          <a:xfrm>
            <a:off x="3291840" y="914400"/>
            <a:ext cx="274284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0"/>
          <p:cNvSpPr/>
          <p:nvPr/>
        </p:nvSpPr>
        <p:spPr>
          <a:xfrm>
            <a:off x="5029200" y="1005840"/>
            <a:ext cx="868320" cy="255600"/>
          </a:xfrm>
          <a:prstGeom prst="rect">
            <a:avLst/>
          </a:prstGeom>
          <a:solidFill>
            <a:srgbClr val="126da6"/>
          </a:solidFill>
          <a:ln w="12700">
            <a:solidFill>
              <a:srgbClr val="126d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11"/>
          <p:cNvSpPr/>
          <p:nvPr/>
        </p:nvSpPr>
        <p:spPr>
          <a:xfrm>
            <a:off x="5029200" y="1005840"/>
            <a:ext cx="868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126da6"/>
                </a:solidFill>
                <a:latin typeface="Calibri"/>
              </a:rPr>
              <a:t>Engineering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12"/>
          <p:cNvSpPr/>
          <p:nvPr/>
        </p:nvSpPr>
        <p:spPr>
          <a:xfrm>
            <a:off x="3383280" y="987480"/>
            <a:ext cx="4568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🖊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13"/>
          <p:cNvSpPr/>
          <p:nvPr/>
        </p:nvSpPr>
        <p:spPr>
          <a:xfrm>
            <a:off x="3886200" y="1005840"/>
            <a:ext cx="10969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2342"/>
                </a:solidFill>
                <a:latin typeface="Calibri"/>
              </a:rPr>
              <a:t>Ink in Pen Nibs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4"/>
          <p:cNvSpPr/>
          <p:nvPr/>
        </p:nvSpPr>
        <p:spPr>
          <a:xfrm>
            <a:off x="3401280" y="1508760"/>
            <a:ext cx="2514600" cy="360"/>
          </a:xfrm>
          <a:prstGeom prst="line">
            <a:avLst/>
          </a:prstGeom>
          <a:ln w="9525">
            <a:solidFill>
              <a:srgbClr val="d0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15"/>
          <p:cNvSpPr/>
          <p:nvPr/>
        </p:nvSpPr>
        <p:spPr>
          <a:xfrm>
            <a:off x="3401640" y="1572840"/>
            <a:ext cx="2514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Fountain pens and ballpoints rely on capillary channels to draw ink from the reservoir and deliver it to the tip at a controlled rate.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6"/>
          <p:cNvSpPr/>
          <p:nvPr/>
        </p:nvSpPr>
        <p:spPr>
          <a:xfrm>
            <a:off x="6172200" y="914400"/>
            <a:ext cx="274284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7"/>
          <p:cNvSpPr/>
          <p:nvPr/>
        </p:nvSpPr>
        <p:spPr>
          <a:xfrm>
            <a:off x="7909560" y="1005840"/>
            <a:ext cx="868320" cy="2556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18"/>
          <p:cNvSpPr/>
          <p:nvPr/>
        </p:nvSpPr>
        <p:spPr>
          <a:xfrm>
            <a:off x="7909560" y="1005840"/>
            <a:ext cx="868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e63946"/>
                </a:solidFill>
                <a:latin typeface="Calibri"/>
              </a:rPr>
              <a:t>Medicine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19"/>
          <p:cNvSpPr/>
          <p:nvPr/>
        </p:nvSpPr>
        <p:spPr>
          <a:xfrm>
            <a:off x="6263640" y="987480"/>
            <a:ext cx="4568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🩸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20"/>
          <p:cNvSpPr/>
          <p:nvPr/>
        </p:nvSpPr>
        <p:spPr>
          <a:xfrm>
            <a:off x="6766560" y="1005840"/>
            <a:ext cx="10969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2342"/>
                </a:solidFill>
                <a:latin typeface="Calibri"/>
              </a:rPr>
              <a:t>Blood in Capillaries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1"/>
          <p:cNvSpPr/>
          <p:nvPr/>
        </p:nvSpPr>
        <p:spPr>
          <a:xfrm>
            <a:off x="6281640" y="1508760"/>
            <a:ext cx="2514600" cy="360"/>
          </a:xfrm>
          <a:prstGeom prst="line">
            <a:avLst/>
          </a:prstGeom>
          <a:ln w="9525">
            <a:solidFill>
              <a:srgbClr val="d0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2"/>
          <p:cNvSpPr/>
          <p:nvPr/>
        </p:nvSpPr>
        <p:spPr>
          <a:xfrm>
            <a:off x="6282000" y="1572840"/>
            <a:ext cx="2514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Blood flows through tiny capillary vessels, delivering oxygen to cells. The narrow vessels and surface tension keep flow steady.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3"/>
          <p:cNvSpPr/>
          <p:nvPr/>
        </p:nvSpPr>
        <p:spPr>
          <a:xfrm>
            <a:off x="411480" y="2880360"/>
            <a:ext cx="274284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4"/>
          <p:cNvSpPr/>
          <p:nvPr/>
        </p:nvSpPr>
        <p:spPr>
          <a:xfrm>
            <a:off x="2148840" y="2971800"/>
            <a:ext cx="868320" cy="255600"/>
          </a:xfrm>
          <a:prstGeom prst="rect">
            <a:avLst/>
          </a:prstGeom>
          <a:solidFill>
            <a:srgbClr val="ffbe0b"/>
          </a:solidFill>
          <a:ln w="12700">
            <a:solidFill>
              <a:srgbClr val="ffb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25"/>
          <p:cNvSpPr/>
          <p:nvPr/>
        </p:nvSpPr>
        <p:spPr>
          <a:xfrm>
            <a:off x="2148840" y="2971800"/>
            <a:ext cx="868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be0b"/>
                </a:solidFill>
                <a:latin typeface="Calibri"/>
              </a:rPr>
              <a:t>Daily Life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26"/>
          <p:cNvSpPr/>
          <p:nvPr/>
        </p:nvSpPr>
        <p:spPr>
          <a:xfrm>
            <a:off x="502920" y="2953440"/>
            <a:ext cx="4568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🧻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27"/>
          <p:cNvSpPr/>
          <p:nvPr/>
        </p:nvSpPr>
        <p:spPr>
          <a:xfrm>
            <a:off x="1005840" y="2971800"/>
            <a:ext cx="10969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2342"/>
                </a:solidFill>
                <a:latin typeface="Calibri"/>
              </a:rPr>
              <a:t>Paper &amp; Towels Absorb Liquid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8"/>
          <p:cNvSpPr/>
          <p:nvPr/>
        </p:nvSpPr>
        <p:spPr>
          <a:xfrm>
            <a:off x="520920" y="3474720"/>
            <a:ext cx="2514600" cy="360"/>
          </a:xfrm>
          <a:prstGeom prst="line">
            <a:avLst/>
          </a:prstGeom>
          <a:ln w="9525">
            <a:solidFill>
              <a:srgbClr val="d0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29"/>
          <p:cNvSpPr/>
          <p:nvPr/>
        </p:nvSpPr>
        <p:spPr>
          <a:xfrm>
            <a:off x="521280" y="3538800"/>
            <a:ext cx="2514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The fibrous network of paper creates countless micro-channels. Capillary action wicks liquid throughout the material rapidly.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0"/>
          <p:cNvSpPr/>
          <p:nvPr/>
        </p:nvSpPr>
        <p:spPr>
          <a:xfrm>
            <a:off x="3291840" y="2880360"/>
            <a:ext cx="274284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1"/>
          <p:cNvSpPr/>
          <p:nvPr/>
        </p:nvSpPr>
        <p:spPr>
          <a:xfrm>
            <a:off x="5029200" y="2971800"/>
            <a:ext cx="868320" cy="255600"/>
          </a:xfrm>
          <a:prstGeom prst="rect">
            <a:avLst/>
          </a:prstGeom>
          <a:solidFill>
            <a:srgbClr val="8338ec"/>
          </a:solidFill>
          <a:ln w="12700">
            <a:solidFill>
              <a:srgbClr val="833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32"/>
          <p:cNvSpPr/>
          <p:nvPr/>
        </p:nvSpPr>
        <p:spPr>
          <a:xfrm>
            <a:off x="5029200" y="2971800"/>
            <a:ext cx="868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338ec"/>
                </a:solidFill>
                <a:latin typeface="Calibri"/>
              </a:rPr>
              <a:t>Earth Science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33"/>
          <p:cNvSpPr/>
          <p:nvPr/>
        </p:nvSpPr>
        <p:spPr>
          <a:xfrm>
            <a:off x="3383280" y="2953440"/>
            <a:ext cx="4568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🏔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34"/>
          <p:cNvSpPr/>
          <p:nvPr/>
        </p:nvSpPr>
        <p:spPr>
          <a:xfrm>
            <a:off x="3886200" y="2971800"/>
            <a:ext cx="10969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2342"/>
                </a:solidFill>
                <a:latin typeface="Calibri"/>
              </a:rPr>
              <a:t>Water Movement in Soil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35"/>
          <p:cNvSpPr/>
          <p:nvPr/>
        </p:nvSpPr>
        <p:spPr>
          <a:xfrm>
            <a:off x="3401280" y="3474720"/>
            <a:ext cx="2514600" cy="360"/>
          </a:xfrm>
          <a:prstGeom prst="line">
            <a:avLst/>
          </a:prstGeom>
          <a:ln w="9525">
            <a:solidFill>
              <a:srgbClr val="d0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6"/>
          <p:cNvSpPr/>
          <p:nvPr/>
        </p:nvSpPr>
        <p:spPr>
          <a:xfrm>
            <a:off x="3401640" y="3538800"/>
            <a:ext cx="2514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Groundwater rises through soil particles via capillarity, keeping topsoil moist and enabling plant root absorption.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7"/>
          <p:cNvSpPr/>
          <p:nvPr/>
        </p:nvSpPr>
        <p:spPr>
          <a:xfrm>
            <a:off x="6172200" y="2880360"/>
            <a:ext cx="274284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8"/>
          <p:cNvSpPr/>
          <p:nvPr/>
        </p:nvSpPr>
        <p:spPr>
          <a:xfrm>
            <a:off x="7909560" y="2971800"/>
            <a:ext cx="868320" cy="255600"/>
          </a:xfrm>
          <a:prstGeom prst="rect">
            <a:avLst/>
          </a:prstGeom>
          <a:solidFill>
            <a:srgbClr val="fb5607"/>
          </a:solidFill>
          <a:ln w="12700">
            <a:solidFill>
              <a:srgbClr val="fb560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39"/>
          <p:cNvSpPr/>
          <p:nvPr/>
        </p:nvSpPr>
        <p:spPr>
          <a:xfrm>
            <a:off x="7909560" y="2971800"/>
            <a:ext cx="868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b5607"/>
                </a:solidFill>
                <a:latin typeface="Calibri"/>
              </a:rPr>
              <a:t>Medical Tech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0"/>
          <p:cNvSpPr/>
          <p:nvPr/>
        </p:nvSpPr>
        <p:spPr>
          <a:xfrm>
            <a:off x="6263640" y="2953440"/>
            <a:ext cx="4568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🩺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41"/>
          <p:cNvSpPr/>
          <p:nvPr/>
        </p:nvSpPr>
        <p:spPr>
          <a:xfrm>
            <a:off x="6766560" y="2971800"/>
            <a:ext cx="10969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2342"/>
                </a:solidFill>
                <a:latin typeface="Calibri"/>
              </a:rPr>
              <a:t>Medical Diagnostic Strips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42"/>
          <p:cNvSpPr/>
          <p:nvPr/>
        </p:nvSpPr>
        <p:spPr>
          <a:xfrm>
            <a:off x="6281640" y="3474720"/>
            <a:ext cx="2514600" cy="360"/>
          </a:xfrm>
          <a:prstGeom prst="line">
            <a:avLst/>
          </a:prstGeom>
          <a:ln w="9525">
            <a:solidFill>
              <a:srgbClr val="d0e8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43"/>
          <p:cNvSpPr/>
          <p:nvPr/>
        </p:nvSpPr>
        <p:spPr>
          <a:xfrm>
            <a:off x="6282000" y="3538800"/>
            <a:ext cx="2514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Blood glucose and COVID test strips use capillary flow to draw a small blood or fluid sample through the test membrane automatically.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hape 29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32"/>
          <p:cNvSpPr/>
          <p:nvPr/>
        </p:nvSpPr>
        <p:spPr>
          <a:xfrm>
            <a:off x="6949440" y="365760"/>
            <a:ext cx="2559960" cy="2559960"/>
          </a:xfrm>
          <a:prstGeom prst="ellipse">
            <a:avLst/>
          </a:prstGeom>
          <a:solidFill>
            <a:srgbClr val="126da6"/>
          </a:solidFill>
          <a:ln w="12700">
            <a:solidFill>
              <a:srgbClr val="126d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Shape 33"/>
          <p:cNvSpPr/>
          <p:nvPr/>
        </p:nvSpPr>
        <p:spPr>
          <a:xfrm>
            <a:off x="7498080" y="1097280"/>
            <a:ext cx="1645560" cy="164556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34"/>
          <p:cNvSpPr/>
          <p:nvPr/>
        </p:nvSpPr>
        <p:spPr>
          <a:xfrm>
            <a:off x="6583680" y="1645920"/>
            <a:ext cx="1096920" cy="1096920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35"/>
          <p:cNvSpPr/>
          <p:nvPr/>
        </p:nvSpPr>
        <p:spPr>
          <a:xfrm>
            <a:off x="548640" y="1097280"/>
            <a:ext cx="6400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  <a:ea typeface="Calibri"/>
              </a:rPr>
              <a:t>Thank You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37"/>
          <p:cNvSpPr/>
          <p:nvPr/>
        </p:nvSpPr>
        <p:spPr>
          <a:xfrm>
            <a:off x="548640" y="2057400"/>
            <a:ext cx="6400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c2cb"/>
                </a:solidFill>
                <a:latin typeface="Calibri"/>
                <a:ea typeface="Calibri"/>
              </a:rPr>
              <a:t>Presenter: Kartika Nidhi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38"/>
          <p:cNvSpPr/>
          <p:nvPr/>
        </p:nvSpPr>
        <p:spPr>
          <a:xfrm>
            <a:off x="548640" y="288036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36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26da6"/>
          </a:solidFill>
          <a:ln w="12700">
            <a:solidFill>
              <a:srgbClr val="126d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42"/>
          <p:cNvSpPr/>
          <p:nvPr/>
        </p:nvSpPr>
        <p:spPr>
          <a:xfrm>
            <a:off x="0" y="4956120"/>
            <a:ext cx="9143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Physics — Fluid Properties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2026-04-22T10:28:00Z</dcterms:created>
  <dc:creator>PptxGenJS</dc:creator>
  <dc:description/>
  <dc:language>en-US</dc:language>
  <cp:lastModifiedBy/>
  <dcterms:modified xsi:type="dcterms:W3CDTF">2026-04-22T18:28:35Z</dcterms:modified>
  <cp:revision>2</cp:revision>
  <dc:subject>PptxGenJS Presentation</dc:subject>
  <dc:title>Surface Tension &amp; Capillary Action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